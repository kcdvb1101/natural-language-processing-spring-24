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20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20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209" name="PlaceHolder 4"/>
          <p:cNvSpPr>
            <a:spLocks noGrp="1"/>
          </p:cNvSpPr>
          <p:nvPr>
            <p:ph type="dt" idx="6"/>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10" name="PlaceHolder 5"/>
          <p:cNvSpPr>
            <a:spLocks noGrp="1"/>
          </p:cNvSpPr>
          <p:nvPr>
            <p:ph type="ftr" idx="7"/>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1" name="PlaceHolder 6"/>
          <p:cNvSpPr>
            <a:spLocks noGrp="1"/>
          </p:cNvSpPr>
          <p:nvPr>
            <p:ph type="sldNum" idx="8"/>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01EECFD-6AAD-4FD9-A8D0-9D25C2D8E14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380880" y="685800"/>
            <a:ext cx="6095520" cy="3428640"/>
          </a:xfrm>
          <a:prstGeom prst="rect">
            <a:avLst/>
          </a:prstGeom>
          <a:ln w="0">
            <a:noFill/>
          </a:ln>
        </p:spPr>
      </p:sp>
      <p:sp>
        <p:nvSpPr>
          <p:cNvPr id="267"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indent="0">
              <a:lnSpc>
                <a:spcPct val="100000"/>
              </a:lnSpc>
              <a:buNone/>
              <a:tabLst>
                <a:tab algn="l" pos="0"/>
              </a:tabLst>
            </a:pPr>
            <a:r>
              <a:rPr b="0" lang="en" sz="1100" spc="-1" strike="noStrike">
                <a:solidFill>
                  <a:srgbClr val="000000"/>
                </a:solidFill>
                <a:latin typeface="Arial"/>
              </a:rPr>
              <a:t>Accuracy actually slightly degrades. However, this opens up new use cases, and accuracy is still acceptable.</a:t>
            </a:r>
            <a:endParaRPr b="0" lang="en-US" sz="11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380880" y="685800"/>
            <a:ext cx="6095520" cy="3428640"/>
          </a:xfrm>
          <a:prstGeom prst="rect">
            <a:avLst/>
          </a:prstGeom>
          <a:ln w="0">
            <a:noFill/>
          </a:ln>
        </p:spPr>
      </p:sp>
      <p:sp>
        <p:nvSpPr>
          <p:cNvPr id="269"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indent="0">
              <a:lnSpc>
                <a:spcPct val="100000"/>
              </a:lnSpc>
              <a:buNone/>
              <a:tabLst>
                <a:tab algn="l" pos="0"/>
              </a:tabLst>
            </a:pPr>
            <a:r>
              <a:rPr b="0" lang="en" sz="1100" spc="-1" strike="noStrike">
                <a:solidFill>
                  <a:srgbClr val="000000"/>
                </a:solidFill>
                <a:latin typeface="Arial"/>
              </a:rPr>
              <a:t>Accuracy actually slightly degrades. However, this opens up new use cases, and accuracy is still acceptable.</a:t>
            </a:r>
            <a:endParaRPr b="0" lang="en-US" sz="11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380880" y="685800"/>
            <a:ext cx="6095520" cy="3428640"/>
          </a:xfrm>
          <a:prstGeom prst="rect">
            <a:avLst/>
          </a:prstGeom>
          <a:ln w="0">
            <a:noFill/>
          </a:ln>
        </p:spPr>
      </p:sp>
      <p:sp>
        <p:nvSpPr>
          <p:cNvPr id="271"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indent="0">
              <a:lnSpc>
                <a:spcPct val="100000"/>
              </a:lnSpc>
              <a:buNone/>
              <a:tabLst>
                <a:tab algn="l" pos="0"/>
              </a:tabLst>
            </a:pPr>
            <a:r>
              <a:rPr b="0" lang="en" sz="1100" spc="-1" strike="noStrike">
                <a:solidFill>
                  <a:srgbClr val="000000"/>
                </a:solidFill>
                <a:latin typeface="Arial"/>
              </a:rPr>
              <a:t>Accuracy actually slightly degrades. However, this opens up new use cases, and accuracy is still acceptable.</a:t>
            </a:r>
            <a:endParaRPr b="0" lang="en-US" sz="11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380880" y="685800"/>
            <a:ext cx="6095520" cy="3428640"/>
          </a:xfrm>
          <a:prstGeom prst="rect">
            <a:avLst/>
          </a:prstGeom>
          <a:ln w="0">
            <a:noFill/>
          </a:ln>
        </p:spPr>
      </p:sp>
      <p:sp>
        <p:nvSpPr>
          <p:cNvPr id="273"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indent="0">
              <a:lnSpc>
                <a:spcPct val="100000"/>
              </a:lnSpc>
              <a:buNone/>
              <a:tabLst>
                <a:tab algn="l" pos="0"/>
              </a:tabLst>
            </a:pPr>
            <a:r>
              <a:rPr b="0" lang="en" sz="1100" spc="-1" strike="noStrike">
                <a:solidFill>
                  <a:srgbClr val="000000"/>
                </a:solidFill>
                <a:latin typeface="Arial"/>
              </a:rPr>
              <a:t>Accuracy actually slightly degrades. However, this opens up new use cases, and accuracy is still acceptable.</a:t>
            </a:r>
            <a:endParaRPr b="0" lang="en-US" sz="11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380880" y="685800"/>
            <a:ext cx="6095520" cy="3428640"/>
          </a:xfrm>
          <a:prstGeom prst="rect">
            <a:avLst/>
          </a:prstGeom>
          <a:ln w="0">
            <a:noFill/>
          </a:ln>
        </p:spPr>
      </p:sp>
      <p:sp>
        <p:nvSpPr>
          <p:cNvPr id="275"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indent="0">
              <a:lnSpc>
                <a:spcPct val="100000"/>
              </a:lnSpc>
              <a:buNone/>
              <a:tabLst>
                <a:tab algn="l" pos="0"/>
              </a:tabLst>
            </a:pPr>
            <a:r>
              <a:rPr b="0" lang="en" sz="1100" spc="-1" strike="noStrike">
                <a:solidFill>
                  <a:srgbClr val="000000"/>
                </a:solidFill>
                <a:latin typeface="Arial"/>
              </a:rPr>
              <a:t>Accuracy actually slightly degrades. However, this opens up new use cases, and accuracy is still acceptable.</a:t>
            </a:r>
            <a:endParaRPr b="0" lang="en-US" sz="11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840EE583-F244-4AE4-B748-4EF399299406}"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E3F4258C-1CCA-45BE-B4A8-145797926232}"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46E76FA4-8413-42B7-BE32-E7E6EF34A1FF}"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686AE179-C60D-4751-80A3-A5180CCABACD}"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E05BD11C-6736-4D3E-B149-655BD2A45C9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06440" y="1806840"/>
            <a:ext cx="8296560" cy="71467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0D59882A-2C95-46BD-892F-B261E150412E}"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02B9AAC7-D946-4116-BF34-E671E6A61B50}"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1F20FD2-F95F-4521-801A-F24A9D9F571B}"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30750184-5D3E-410D-9F8D-DAE6907AE604}"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420B6F34-6514-4869-A97D-5B7A22F0C5C2}"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CDC17199-1A82-42FA-AFA4-2C3DD8F51B8A}"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263956FC-B8BB-446F-87F7-42F8D837DA87}"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DB5B24C-3A1C-4B8F-B622-F990416C827B}"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92B8D706-9DD5-4FBA-B986-03DCB058D0A5}"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EFBA3606-0FB3-410E-9028-BFDD713FE239}"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2E9C4D95-FF56-426C-8002-49E5CA14B9E2}"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19641868-37FB-44A2-8F8F-5E257A5BF014}"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06440" y="1806840"/>
            <a:ext cx="8296560" cy="71467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D5FE6615-3C58-486E-B875-2476D37622D0}"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8DBC2087-1B72-4D36-AF7B-86593FD85947}"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8A699E58-573C-4384-8BEF-1CF5C73B233F}"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B46E66FF-C263-4FFD-8CD0-2EBD95FEA73A}"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7"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8"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64619E56-25DF-439E-B948-954918D7A3AB}"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5CAD9423-A877-424B-89E6-0E4BF778DA05}"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9"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0"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0FD8DC6E-79BA-4A6C-84F4-9F1D11BBB459}"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3CF9FA08-6361-4790-9516-A4121DF353F8}"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1B68DDDA-9D36-48C8-81B5-45AF0093AAFE}"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565AA25D-1964-466E-A41F-6F71132D038D}"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1D2FED36-38C3-46F5-9DE0-9DC8AE3E862E}"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C06EAFE7-3D73-417D-82D1-4D037D989881}"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406440" y="1806840"/>
            <a:ext cx="8296560" cy="71467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85D4AA80-230F-4CDF-90CD-3C9B5D1091F0}"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5834972D-A4B3-4571-9584-E778BA28DB2A}"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1AAFB792-4994-4EEE-8E0B-D7609F65BB1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C545B5BD-254F-4595-B52D-5F9F61B93708}"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18B4B921-E3AA-4DF7-A325-E2A668D6AF2F}"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6EBD6F42-D179-4E39-810E-8CF02845A481}"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151CF50C-F4D2-4AA1-8528-5588E3347ABA}"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1463FEA8-037B-4CE2-93C4-FD21FBA2C8B1}"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24F8E0A7-1497-42A1-9DB9-E41FC9C18FA3}"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074169C4-3858-4FE2-9A9B-1DDC5CB0BBCD}"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3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FD2C46DD-FF3E-4659-82DE-C167DB4462C6}"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DD2CC2E6-C463-47B8-AC27-7D36896B2F9D}"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5" name="PlaceHolder 1"/>
          <p:cNvSpPr>
            <a:spLocks noGrp="1"/>
          </p:cNvSpPr>
          <p:nvPr>
            <p:ph type="subTitle"/>
          </p:nvPr>
        </p:nvSpPr>
        <p:spPr>
          <a:xfrm>
            <a:off x="406440" y="1806840"/>
            <a:ext cx="8296560" cy="71467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D82092F1-A173-4661-B064-E73A27BBE9F5}"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3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3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A3CD6E37-AB1E-42D4-BD8E-F7F8317737B8}"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856E0B69-81B7-4212-8BDB-03E3C651E3CC}"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5EE38ADE-1168-4698-8B32-9857DB82ADF1}"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51CA3799-5C87-4167-B19D-9D48643E88AB}"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3735CDBB-6D87-4FD3-9464-B1F49CD88B2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0E9D9180-A629-48C5-95C2-44668E55A84A}"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67DA527F-8B3B-4DE3-A4E0-332C0FFCEAFD}"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0"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71"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B8500854-515D-4617-930C-0BE7447C4A02}"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7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A21BAD33-4121-4494-B756-294280979810}"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7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1BBFA1DC-B3B3-4A4C-BE76-8122733B15E0}"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5"/>
          </p:nvPr>
        </p:nvSpPr>
        <p:spPr/>
        <p:txBody>
          <a:bodyPr/>
          <a:p>
            <a:fld id="{B32D9DD6-D50B-490D-9F4D-F59F8B53D996}"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8" name="PlaceHolder 1"/>
          <p:cNvSpPr>
            <a:spLocks noGrp="1"/>
          </p:cNvSpPr>
          <p:nvPr>
            <p:ph type="subTitle"/>
          </p:nvPr>
        </p:nvSpPr>
        <p:spPr>
          <a:xfrm>
            <a:off x="406440" y="1806840"/>
            <a:ext cx="8296560" cy="71467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5"/>
          </p:nvPr>
        </p:nvSpPr>
        <p:spPr/>
        <p:txBody>
          <a:bodyPr/>
          <a:p>
            <a:fld id="{9166DFAA-3B5E-463D-A3AF-3043037291DE}"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BCCE2485-D96B-40A9-A83E-149037059AAA}"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6"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87C23076-96D4-4679-81F2-BFE87A0E6242}"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0"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62C4EC6F-3204-45DA-A6C6-1108C2C47B0E}"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588E039E-B99D-42D2-BDFC-4BC9BF3B3973}"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8"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5"/>
          </p:nvPr>
        </p:nvSpPr>
        <p:spPr/>
        <p:txBody>
          <a:bodyPr/>
          <a:p>
            <a:fld id="{A1C70188-8F7A-4C57-9011-D8F1D2CD144C}"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406440" y="1806840"/>
            <a:ext cx="8296560" cy="15415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0"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1"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2"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3"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4"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5"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5"/>
          </p:nvPr>
        </p:nvSpPr>
        <p:spPr/>
        <p:txBody>
          <a:bodyPr/>
          <a:p>
            <a:fld id="{9093D955-92CD-47E0-9882-3A88C82812C5}"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03480" y="411480"/>
            <a:ext cx="8520120" cy="639360"/>
          </a:xfrm>
          <a:prstGeom prst="rect">
            <a:avLst/>
          </a:prstGeom>
          <a:noFill/>
          <a:ln w="0">
            <a:noFill/>
          </a:ln>
        </p:spPr>
        <p:txBody>
          <a:bodyPr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 name="PlaceHolder 2"/>
          <p:cNvSpPr>
            <a:spLocks noGrp="1"/>
          </p:cNvSpPr>
          <p:nvPr>
            <p:ph type="sldNum" idx="1"/>
          </p:nvPr>
        </p:nvSpPr>
        <p:spPr>
          <a:xfrm>
            <a:off x="8498160" y="4688640"/>
            <a:ext cx="548280" cy="393120"/>
          </a:xfrm>
          <a:prstGeom prst="rect">
            <a:avLst/>
          </a:prstGeom>
          <a:noFill/>
          <a:ln w="0">
            <a:noFill/>
          </a:ln>
        </p:spPr>
        <p:txBody>
          <a:bodyPr tIns="91440" bIns="91440" anchor="ctr">
            <a:noAutofit/>
          </a:bodyPr>
          <a:lstStyle>
            <a:lvl1pPr indent="0" algn="r">
              <a:lnSpc>
                <a:spcPct val="100000"/>
              </a:lnSpc>
              <a:buNone/>
              <a:tabLst>
                <a:tab algn="l" pos="0"/>
              </a:tabLst>
              <a:defRPr b="0" lang="en" sz="1000" spc="-1" strike="noStrike">
                <a:solidFill>
                  <a:schemeClr val="dk2"/>
                </a:solidFill>
                <a:latin typeface="Lato"/>
                <a:ea typeface="Lato"/>
              </a:defRPr>
            </a:lvl1pPr>
          </a:lstStyle>
          <a:p>
            <a:pPr indent="0" algn="r">
              <a:lnSpc>
                <a:spcPct val="100000"/>
              </a:lnSpc>
              <a:buNone/>
              <a:tabLst>
                <a:tab algn="l" pos="0"/>
              </a:tabLst>
            </a:pPr>
            <a:fld id="{73C18DEE-CAE1-4D7C-A94B-4FA03AC0138A}" type="slidenum">
              <a:rPr b="0" lang="en" sz="1000" spc="-1" strike="noStrike">
                <a:solidFill>
                  <a:schemeClr val="dk2"/>
                </a:solidFill>
                <a:latin typeface="Lato"/>
                <a:ea typeface="Lato"/>
              </a:rPr>
              <a:t>&lt;number&gt;</a:t>
            </a:fld>
            <a:endParaRPr b="0" lang="en-US" sz="1000" spc="-1" strike="noStrike">
              <a:solidFill>
                <a:srgbClr val="000000"/>
              </a:solidFill>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cxnSp>
        <p:nvCxnSpPr>
          <p:cNvPr id="39" name="Google Shape;10;p2"/>
          <p:cNvCxnSpPr/>
          <p:nvPr/>
        </p:nvCxnSpPr>
        <p:spPr>
          <a:xfrm>
            <a:off x="2477520" y="415440"/>
            <a:ext cx="6244560" cy="360"/>
          </a:xfrm>
          <a:prstGeom prst="straightConnector1">
            <a:avLst/>
          </a:prstGeom>
          <a:ln w="38100">
            <a:solidFill>
              <a:srgbClr val="ffffff"/>
            </a:solidFill>
            <a:round/>
          </a:ln>
        </p:spPr>
      </p:cxnSp>
      <p:cxnSp>
        <p:nvCxnSpPr>
          <p:cNvPr id="40" name="Google Shape;11;p2"/>
          <p:cNvCxnSpPr/>
          <p:nvPr/>
        </p:nvCxnSpPr>
        <p:spPr>
          <a:xfrm>
            <a:off x="2477520" y="4739760"/>
            <a:ext cx="6244560" cy="360"/>
          </a:xfrm>
          <a:prstGeom prst="straightConnector1">
            <a:avLst/>
          </a:prstGeom>
          <a:ln w="19050">
            <a:solidFill>
              <a:srgbClr val="ffffff"/>
            </a:solidFill>
            <a:round/>
          </a:ln>
        </p:spPr>
      </p:cxnSp>
      <p:cxnSp>
        <p:nvCxnSpPr>
          <p:cNvPr id="41" name="Google Shape;12;p2"/>
          <p:cNvCxnSpPr/>
          <p:nvPr/>
        </p:nvCxnSpPr>
        <p:spPr>
          <a:xfrm>
            <a:off x="425160" y="415440"/>
            <a:ext cx="183600" cy="360"/>
          </a:xfrm>
          <a:prstGeom prst="straightConnector1">
            <a:avLst/>
          </a:prstGeom>
          <a:ln w="19050">
            <a:solidFill>
              <a:srgbClr val="ffffff"/>
            </a:solidFill>
            <a:round/>
          </a:ln>
        </p:spPr>
      </p:cxnSp>
      <p:sp>
        <p:nvSpPr>
          <p:cNvPr id="42" name="PlaceHolder 1"/>
          <p:cNvSpPr>
            <a:spLocks noGrp="1"/>
          </p:cNvSpPr>
          <p:nvPr>
            <p:ph type="title"/>
          </p:nvPr>
        </p:nvSpPr>
        <p:spPr>
          <a:xfrm>
            <a:off x="2371680" y="630360"/>
            <a:ext cx="6331320" cy="1541520"/>
          </a:xfrm>
          <a:prstGeom prst="rect">
            <a:avLst/>
          </a:prstGeom>
          <a:noFill/>
          <a:ln w="0">
            <a:noFill/>
          </a:ln>
        </p:spPr>
        <p:txBody>
          <a:bodyPr tIns="91440" bIns="91440" anchor="t">
            <a:no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43" name="PlaceHolder 2"/>
          <p:cNvSpPr>
            <a:spLocks noGrp="1"/>
          </p:cNvSpPr>
          <p:nvPr>
            <p:ph type="sldNum" idx="2"/>
          </p:nvPr>
        </p:nvSpPr>
        <p:spPr>
          <a:xfrm>
            <a:off x="8498160" y="4688640"/>
            <a:ext cx="548280" cy="393120"/>
          </a:xfrm>
          <a:prstGeom prst="rect">
            <a:avLst/>
          </a:prstGeom>
          <a:noFill/>
          <a:ln w="0">
            <a:noFill/>
          </a:ln>
        </p:spPr>
        <p:txBody>
          <a:bodyPr tIns="91440" bIns="91440" anchor="ctr">
            <a:noAutofit/>
          </a:bodyPr>
          <a:lstStyle>
            <a:lvl1pPr indent="0" algn="r">
              <a:lnSpc>
                <a:spcPct val="100000"/>
              </a:lnSpc>
              <a:buNone/>
              <a:tabLst>
                <a:tab algn="l" pos="0"/>
              </a:tabLst>
              <a:defRPr b="0" lang="en" sz="1000" spc="-1" strike="noStrike">
                <a:solidFill>
                  <a:schemeClr val="lt1"/>
                </a:solidFill>
                <a:latin typeface="Lato"/>
                <a:ea typeface="Lato"/>
              </a:defRPr>
            </a:lvl1pPr>
          </a:lstStyle>
          <a:p>
            <a:pPr indent="0" algn="r">
              <a:lnSpc>
                <a:spcPct val="100000"/>
              </a:lnSpc>
              <a:buNone/>
              <a:tabLst>
                <a:tab algn="l" pos="0"/>
              </a:tabLst>
            </a:pPr>
            <a:fld id="{7ADABE67-5496-40E6-90DF-AF6996B829CC}" type="slidenum">
              <a:rPr b="0" lang="en"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1" name="Google Shape;49;p9"/>
          <p:cNvSpPr/>
          <p:nvPr/>
        </p:nvSpPr>
        <p:spPr>
          <a:xfrm>
            <a:off x="457200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a typeface="Arial"/>
            </a:endParaRPr>
          </a:p>
        </p:txBody>
      </p:sp>
      <p:cxnSp>
        <p:nvCxnSpPr>
          <p:cNvPr id="82" name="Google Shape;50;p9"/>
          <p:cNvCxnSpPr/>
          <p:nvPr/>
        </p:nvCxnSpPr>
        <p:spPr>
          <a:xfrm>
            <a:off x="5029560" y="4495320"/>
            <a:ext cx="468720" cy="360"/>
          </a:xfrm>
          <a:prstGeom prst="straightConnector1">
            <a:avLst/>
          </a:prstGeom>
          <a:ln w="19050">
            <a:solidFill>
              <a:srgbClr val="ffffff"/>
            </a:solidFill>
            <a:round/>
          </a:ln>
        </p:spPr>
      </p:cxnSp>
      <p:sp>
        <p:nvSpPr>
          <p:cNvPr id="83" name="PlaceHolder 1"/>
          <p:cNvSpPr>
            <a:spLocks noGrp="1"/>
          </p:cNvSpPr>
          <p:nvPr>
            <p:ph type="title"/>
          </p:nvPr>
        </p:nvSpPr>
        <p:spPr>
          <a:xfrm>
            <a:off x="265680" y="1397520"/>
            <a:ext cx="4044960" cy="1317960"/>
          </a:xfrm>
          <a:prstGeom prst="rect">
            <a:avLst/>
          </a:prstGeom>
          <a:noFill/>
          <a:ln w="0">
            <a:noFill/>
          </a:ln>
        </p:spPr>
        <p:txBody>
          <a:bodyPr tIns="91440" bIns="91440" anchor="b">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84" name="PlaceHolder 2"/>
          <p:cNvSpPr>
            <a:spLocks noGrp="1"/>
          </p:cNvSpPr>
          <p:nvPr>
            <p:ph type="body"/>
          </p:nvPr>
        </p:nvSpPr>
        <p:spPr>
          <a:xfrm>
            <a:off x="4939560" y="724320"/>
            <a:ext cx="3836520" cy="3694680"/>
          </a:xfrm>
          <a:prstGeom prst="rect">
            <a:avLst/>
          </a:prstGeom>
          <a:noFill/>
          <a:ln w="0">
            <a:noFill/>
          </a:ln>
        </p:spPr>
        <p:txBody>
          <a:bodyPr tIns="91440" bIns="91440" anchor="ctr">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5" name="PlaceHolder 3"/>
          <p:cNvSpPr>
            <a:spLocks noGrp="1"/>
          </p:cNvSpPr>
          <p:nvPr>
            <p:ph type="sldNum" idx="3"/>
          </p:nvPr>
        </p:nvSpPr>
        <p:spPr>
          <a:xfrm>
            <a:off x="8498160" y="4688640"/>
            <a:ext cx="548280" cy="393120"/>
          </a:xfrm>
          <a:prstGeom prst="rect">
            <a:avLst/>
          </a:prstGeom>
          <a:noFill/>
          <a:ln w="0">
            <a:noFill/>
          </a:ln>
        </p:spPr>
        <p:txBody>
          <a:bodyPr tIns="91440" bIns="91440" anchor="ctr">
            <a:noAutofit/>
          </a:bodyPr>
          <a:lstStyle>
            <a:lvl1pPr indent="0" algn="r">
              <a:lnSpc>
                <a:spcPct val="100000"/>
              </a:lnSpc>
              <a:buNone/>
              <a:tabLst>
                <a:tab algn="l" pos="0"/>
              </a:tabLst>
              <a:defRPr b="0" lang="en" sz="1000" spc="-1" strike="noStrike">
                <a:solidFill>
                  <a:schemeClr val="lt1"/>
                </a:solidFill>
                <a:latin typeface="Lato"/>
                <a:ea typeface="Lato"/>
              </a:defRPr>
            </a:lvl1pPr>
          </a:lstStyle>
          <a:p>
            <a:pPr indent="0" algn="r">
              <a:lnSpc>
                <a:spcPct val="100000"/>
              </a:lnSpc>
              <a:buNone/>
              <a:tabLst>
                <a:tab algn="l" pos="0"/>
              </a:tabLst>
            </a:pPr>
            <a:fld id="{22BE720F-1BDC-488B-BEFB-773663C3D826}" type="slidenum">
              <a:rPr b="0" lang="en"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cxnSp>
        <p:nvCxnSpPr>
          <p:cNvPr id="122" name="Google Shape;17;p3"/>
          <p:cNvCxnSpPr/>
          <p:nvPr/>
        </p:nvCxnSpPr>
        <p:spPr>
          <a:xfrm>
            <a:off x="425160" y="415440"/>
            <a:ext cx="8296920" cy="360"/>
          </a:xfrm>
          <a:prstGeom prst="straightConnector1">
            <a:avLst/>
          </a:prstGeom>
          <a:ln w="38100">
            <a:solidFill>
              <a:srgbClr val="ffffff"/>
            </a:solidFill>
            <a:round/>
          </a:ln>
        </p:spPr>
      </p:cxnSp>
      <p:cxnSp>
        <p:nvCxnSpPr>
          <p:cNvPr id="123" name="Google Shape;18;p3"/>
          <p:cNvCxnSpPr/>
          <p:nvPr/>
        </p:nvCxnSpPr>
        <p:spPr>
          <a:xfrm>
            <a:off x="425160" y="4739760"/>
            <a:ext cx="8296920" cy="360"/>
          </a:xfrm>
          <a:prstGeom prst="straightConnector1">
            <a:avLst/>
          </a:prstGeom>
          <a:ln w="19050">
            <a:solidFill>
              <a:srgbClr val="ffffff"/>
            </a:solidFill>
            <a:round/>
          </a:ln>
        </p:spPr>
      </p:cxnSp>
      <p:sp>
        <p:nvSpPr>
          <p:cNvPr id="124" name="PlaceHolder 1"/>
          <p:cNvSpPr>
            <a:spLocks noGrp="1"/>
          </p:cNvSpPr>
          <p:nvPr>
            <p:ph type="title"/>
          </p:nvPr>
        </p:nvSpPr>
        <p:spPr>
          <a:xfrm>
            <a:off x="406440" y="1806840"/>
            <a:ext cx="8296560" cy="1541520"/>
          </a:xfrm>
          <a:prstGeom prst="rect">
            <a:avLst/>
          </a:prstGeom>
          <a:noFill/>
          <a:ln w="0">
            <a:noFill/>
          </a:ln>
        </p:spPr>
        <p:txBody>
          <a:bodyPr tIns="91440" bIns="91440" anchor="ctr">
            <a:no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125" name="PlaceHolder 2"/>
          <p:cNvSpPr>
            <a:spLocks noGrp="1"/>
          </p:cNvSpPr>
          <p:nvPr>
            <p:ph type="sldNum" idx="4"/>
          </p:nvPr>
        </p:nvSpPr>
        <p:spPr>
          <a:xfrm>
            <a:off x="8498160" y="4688640"/>
            <a:ext cx="548280" cy="393120"/>
          </a:xfrm>
          <a:prstGeom prst="rect">
            <a:avLst/>
          </a:prstGeom>
          <a:noFill/>
          <a:ln w="0">
            <a:noFill/>
          </a:ln>
        </p:spPr>
        <p:txBody>
          <a:bodyPr tIns="91440" bIns="91440" anchor="ctr">
            <a:noAutofit/>
          </a:bodyPr>
          <a:lstStyle>
            <a:lvl1pPr indent="0" algn="r">
              <a:lnSpc>
                <a:spcPct val="100000"/>
              </a:lnSpc>
              <a:buNone/>
              <a:tabLst>
                <a:tab algn="l" pos="0"/>
              </a:tabLst>
              <a:defRPr b="0" lang="en" sz="1000" spc="-1" strike="noStrike">
                <a:solidFill>
                  <a:schemeClr val="lt1"/>
                </a:solidFill>
                <a:latin typeface="Lato"/>
                <a:ea typeface="Lato"/>
              </a:defRPr>
            </a:lvl1pPr>
          </a:lstStyle>
          <a:p>
            <a:pPr indent="0" algn="r">
              <a:lnSpc>
                <a:spcPct val="100000"/>
              </a:lnSpc>
              <a:buNone/>
              <a:tabLst>
                <a:tab algn="l" pos="0"/>
              </a:tabLst>
            </a:pPr>
            <a:fld id="{40785367-2DDE-47CA-BBC4-6D6C249AD6EB}" type="slidenum">
              <a:rPr b="0" lang="en"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126"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163" name="Google Shape;29;p5"/>
          <p:cNvCxnSpPr/>
          <p:nvPr/>
        </p:nvCxnSpPr>
        <p:spPr>
          <a:xfrm>
            <a:off x="2477520" y="415440"/>
            <a:ext cx="6244560" cy="360"/>
          </a:xfrm>
          <a:prstGeom prst="straightConnector1">
            <a:avLst/>
          </a:prstGeom>
          <a:ln w="38100">
            <a:solidFill>
              <a:srgbClr val="000000"/>
            </a:solidFill>
            <a:round/>
          </a:ln>
        </p:spPr>
      </p:cxnSp>
      <p:cxnSp>
        <p:nvCxnSpPr>
          <p:cNvPr id="164" name="Google Shape;30;p5"/>
          <p:cNvCxnSpPr/>
          <p:nvPr/>
        </p:nvCxnSpPr>
        <p:spPr>
          <a:xfrm>
            <a:off x="2477520" y="4739760"/>
            <a:ext cx="6244560" cy="360"/>
          </a:xfrm>
          <a:prstGeom prst="straightConnector1">
            <a:avLst/>
          </a:prstGeom>
          <a:ln w="19050">
            <a:solidFill>
              <a:srgbClr val="000000"/>
            </a:solidFill>
            <a:round/>
          </a:ln>
        </p:spPr>
      </p:cxnSp>
      <p:cxnSp>
        <p:nvCxnSpPr>
          <p:cNvPr id="165" name="Google Shape;31;p5"/>
          <p:cNvCxnSpPr/>
          <p:nvPr/>
        </p:nvCxnSpPr>
        <p:spPr>
          <a:xfrm>
            <a:off x="425160" y="415440"/>
            <a:ext cx="183600" cy="360"/>
          </a:xfrm>
          <a:prstGeom prst="straightConnector1">
            <a:avLst/>
          </a:prstGeom>
          <a:ln w="19050">
            <a:solidFill>
              <a:srgbClr val="000000"/>
            </a:solidFill>
            <a:round/>
          </a:ln>
        </p:spPr>
      </p:cxnSp>
      <p:sp>
        <p:nvSpPr>
          <p:cNvPr id="166"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67" name="PlaceHolder 2"/>
          <p:cNvSpPr>
            <a:spLocks noGrp="1"/>
          </p:cNvSpPr>
          <p:nvPr>
            <p:ph type="body"/>
          </p:nvPr>
        </p:nvSpPr>
        <p:spPr>
          <a:xfrm>
            <a:off x="2400480" y="1602720"/>
            <a:ext cx="3071160" cy="3002040"/>
          </a:xfrm>
          <a:prstGeom prst="rect">
            <a:avLst/>
          </a:prstGeom>
          <a:noFill/>
          <a:ln w="0">
            <a:noFill/>
          </a:ln>
        </p:spPr>
        <p:txBody>
          <a:bodyPr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8" name="PlaceHolder 3"/>
          <p:cNvSpPr>
            <a:spLocks noGrp="1"/>
          </p:cNvSpPr>
          <p:nvPr>
            <p:ph type="body"/>
          </p:nvPr>
        </p:nvSpPr>
        <p:spPr>
          <a:xfrm>
            <a:off x="5650560" y="1602720"/>
            <a:ext cx="3071160" cy="3002040"/>
          </a:xfrm>
          <a:prstGeom prst="rect">
            <a:avLst/>
          </a:prstGeom>
          <a:noFill/>
          <a:ln w="0">
            <a:noFill/>
          </a:ln>
        </p:spPr>
        <p:txBody>
          <a:bodyPr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9" name="PlaceHolder 4"/>
          <p:cNvSpPr>
            <a:spLocks noGrp="1"/>
          </p:cNvSpPr>
          <p:nvPr>
            <p:ph type="sldNum" idx="5"/>
          </p:nvPr>
        </p:nvSpPr>
        <p:spPr>
          <a:xfrm>
            <a:off x="8498160" y="4688640"/>
            <a:ext cx="548280" cy="393120"/>
          </a:xfrm>
          <a:prstGeom prst="rect">
            <a:avLst/>
          </a:prstGeom>
          <a:noFill/>
          <a:ln w="0">
            <a:noFill/>
          </a:ln>
        </p:spPr>
        <p:txBody>
          <a:bodyPr tIns="91440" bIns="91440" anchor="ctr">
            <a:noAutofit/>
          </a:bodyPr>
          <a:lstStyle>
            <a:lvl1pPr indent="0" algn="r">
              <a:lnSpc>
                <a:spcPct val="100000"/>
              </a:lnSpc>
              <a:buNone/>
              <a:tabLst>
                <a:tab algn="l" pos="0"/>
              </a:tabLst>
              <a:defRPr b="0" lang="en" sz="1000" spc="-1" strike="noStrike">
                <a:solidFill>
                  <a:schemeClr val="dk2"/>
                </a:solidFill>
                <a:latin typeface="Lato"/>
                <a:ea typeface="Lato"/>
              </a:defRPr>
            </a:lvl1pPr>
          </a:lstStyle>
          <a:p>
            <a:pPr indent="0" algn="r">
              <a:lnSpc>
                <a:spcPct val="100000"/>
              </a:lnSpc>
              <a:buNone/>
              <a:tabLst>
                <a:tab algn="l" pos="0"/>
              </a:tabLst>
            </a:pPr>
            <a:fld id="{600D2AC9-5689-4DD9-B485-EBD3B5F84150}" type="slidenum">
              <a:rPr b="0" lang="en" sz="1000" spc="-1" strike="noStrike">
                <a:solidFill>
                  <a:schemeClr val="dk2"/>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2.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2400120" y="576000"/>
            <a:ext cx="6321240" cy="635040"/>
          </a:xfrm>
          <a:prstGeom prst="rect">
            <a:avLst/>
          </a:prstGeom>
          <a:noFill/>
          <a:ln w="0">
            <a:noFill/>
          </a:ln>
        </p:spPr>
        <p:txBody>
          <a:bodyPr tIns="91440" bIns="91440" anchor="ctr">
            <a:normAutofit/>
          </a:bodyPr>
          <a:p>
            <a:pPr indent="0">
              <a:lnSpc>
                <a:spcPct val="90000"/>
              </a:lnSpc>
              <a:buNone/>
              <a:tabLst>
                <a:tab algn="l" pos="0"/>
              </a:tabLst>
            </a:pPr>
            <a:r>
              <a:rPr b="1" lang="en" sz="3000" spc="-1" strike="noStrike">
                <a:solidFill>
                  <a:schemeClr val="dk2"/>
                </a:solidFill>
                <a:latin typeface="Raleway"/>
                <a:ea typeface="Raleway"/>
              </a:rPr>
              <a:t>See a video first</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2371680" y="630360"/>
            <a:ext cx="6331320" cy="1541520"/>
          </a:xfrm>
          <a:prstGeom prst="rect">
            <a:avLst/>
          </a:prstGeom>
          <a:noFill/>
          <a:ln w="0">
            <a:noFill/>
          </a:ln>
        </p:spPr>
        <p:txBody>
          <a:bodyPr tIns="91440" bIns="91440" anchor="t">
            <a:noAutofit/>
          </a:bodyPr>
          <a:p>
            <a:pPr indent="0">
              <a:lnSpc>
                <a:spcPct val="100000"/>
              </a:lnSpc>
              <a:buNone/>
              <a:tabLst>
                <a:tab algn="l" pos="0"/>
              </a:tabLst>
            </a:pPr>
            <a:r>
              <a:rPr b="1" lang="en" sz="4800" spc="-1" strike="noStrike">
                <a:solidFill>
                  <a:schemeClr val="lt1"/>
                </a:solidFill>
                <a:latin typeface="Raleway"/>
                <a:ea typeface="Raleway"/>
              </a:rPr>
              <a:t>Transformers </a:t>
            </a:r>
            <a:endParaRPr b="0" lang="en-US" sz="4800" spc="-1" strike="noStrike">
              <a:solidFill>
                <a:srgbClr val="000000"/>
              </a:solidFill>
              <a:latin typeface="Arial"/>
            </a:endParaRPr>
          </a:p>
        </p:txBody>
      </p:sp>
      <p:sp>
        <p:nvSpPr>
          <p:cNvPr id="214" name="PlaceHolder 2"/>
          <p:cNvSpPr>
            <a:spLocks noGrp="1"/>
          </p:cNvSpPr>
          <p:nvPr>
            <p:ph type="subTitle"/>
          </p:nvPr>
        </p:nvSpPr>
        <p:spPr>
          <a:xfrm>
            <a:off x="2390400" y="3238560"/>
            <a:ext cx="6331320" cy="1241280"/>
          </a:xfrm>
          <a:prstGeom prst="rect">
            <a:avLst/>
          </a:prstGeom>
          <a:noFill/>
          <a:ln w="0">
            <a:noFill/>
          </a:ln>
        </p:spPr>
        <p:txBody>
          <a:bodyPr tIns="91440" bIns="91440" anchor="b">
            <a:noAutofit/>
          </a:bodyPr>
          <a:p>
            <a:pPr indent="0">
              <a:lnSpc>
                <a:spcPct val="100000"/>
              </a:lnSpc>
              <a:buNone/>
              <a:tabLst>
                <a:tab algn="l" pos="0"/>
              </a:tabLst>
            </a:pPr>
            <a:r>
              <a:rPr b="0" lang="en-US" sz="1800" spc="-1" strike="noStrike">
                <a:solidFill>
                  <a:schemeClr val="lt1"/>
                </a:solidFill>
                <a:latin typeface="Lato"/>
                <a:ea typeface="Lato"/>
              </a:rPr>
              <a:t>Hui Jin</a:t>
            </a:r>
            <a:endParaRPr b="0" lang="en-US" sz="1800" spc="-1" strike="noStrike">
              <a:solidFill>
                <a:srgbClr val="000000"/>
              </a:solidFill>
              <a:latin typeface="Arial"/>
            </a:endParaRPr>
          </a:p>
          <a:p>
            <a:pPr indent="0">
              <a:lnSpc>
                <a:spcPct val="100000"/>
              </a:lnSpc>
              <a:buNone/>
              <a:tabLst>
                <a:tab algn="l" pos="0"/>
              </a:tabLst>
            </a:pPr>
            <a:r>
              <a:rPr b="0" lang="en-US" sz="1800" spc="-1" strike="noStrike">
                <a:solidFill>
                  <a:schemeClr val="lt1"/>
                </a:solidFill>
                <a:latin typeface="Lato"/>
                <a:ea typeface="Lato"/>
              </a:rPr>
              <a:t>Odai Athamneh</a:t>
            </a:r>
            <a:endParaRPr b="0" lang="en-US" sz="1800" spc="-1" strike="noStrike">
              <a:solidFill>
                <a:srgbClr val="000000"/>
              </a:solidFill>
              <a:latin typeface="Arial"/>
            </a:endParaRPr>
          </a:p>
          <a:p>
            <a:pPr indent="0">
              <a:lnSpc>
                <a:spcPct val="100000"/>
              </a:lnSpc>
              <a:buNone/>
              <a:tabLst>
                <a:tab algn="l" pos="0"/>
              </a:tabLst>
            </a:pPr>
            <a:r>
              <a:rPr b="0" lang="en-US" sz="1800" spc="-1" strike="noStrike">
                <a:solidFill>
                  <a:schemeClr val="lt1"/>
                </a:solidFill>
                <a:latin typeface="Lato"/>
                <a:ea typeface="Lato"/>
              </a:rPr>
              <a:t>Karthik Chellamuthu</a:t>
            </a:r>
            <a:endParaRPr b="0" lang="en-US" sz="1800" spc="-1" strike="noStrike">
              <a:solidFill>
                <a:srgbClr val="000000"/>
              </a:solidFill>
              <a:latin typeface="Arial"/>
            </a:endParaRPr>
          </a:p>
          <a:p>
            <a:pPr indent="0">
              <a:lnSpc>
                <a:spcPct val="100000"/>
              </a:lnSpc>
              <a:buNone/>
              <a:tabLst>
                <a:tab algn="l" pos="0"/>
              </a:tabLst>
            </a:pPr>
            <a:r>
              <a:rPr b="0" lang="en-US" sz="1800" spc="-1" strike="noStrike">
                <a:solidFill>
                  <a:schemeClr val="lt1"/>
                </a:solidFill>
                <a:latin typeface="Lato"/>
                <a:ea typeface="Lato"/>
              </a:rPr>
              <a:t>Bao Ngo</a:t>
            </a:r>
            <a:endParaRPr b="0" lang="en-US" sz="1800" spc="-1" strike="noStrike">
              <a:solidFill>
                <a:srgbClr val="000000"/>
              </a:solidFill>
              <a:latin typeface="Arial"/>
            </a:endParaRPr>
          </a:p>
          <a:p>
            <a:pPr indent="0">
              <a:lnSpc>
                <a:spcPct val="100000"/>
              </a:lnSpc>
              <a:buNone/>
              <a:tabLst>
                <a:tab algn="l" pos="0"/>
              </a:tabLst>
            </a:pPr>
            <a:r>
              <a:rPr b="0" lang="en-US" sz="1800" spc="-1" strike="noStrike">
                <a:solidFill>
                  <a:schemeClr val="lt1"/>
                </a:solidFill>
                <a:latin typeface="Lato"/>
                <a:ea typeface="Lato"/>
              </a:rPr>
              <a:t>25/04/2024</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265680" y="1912680"/>
            <a:ext cx="4044960" cy="1317960"/>
          </a:xfrm>
          <a:prstGeom prst="rect">
            <a:avLst/>
          </a:prstGeom>
          <a:noFill/>
          <a:ln w="0">
            <a:noFill/>
          </a:ln>
        </p:spPr>
        <p:txBody>
          <a:bodyPr tIns="91440" bIns="91440" anchor="ctr">
            <a:noAutofit/>
          </a:bodyPr>
          <a:p>
            <a:pPr indent="0" algn="ctr">
              <a:lnSpc>
                <a:spcPct val="100000"/>
              </a:lnSpc>
              <a:buNone/>
              <a:tabLst>
                <a:tab algn="l" pos="0"/>
              </a:tabLst>
            </a:pPr>
            <a:r>
              <a:rPr b="1" lang="en" sz="3600" spc="-1" strike="noStrike">
                <a:solidFill>
                  <a:schemeClr val="dk1"/>
                </a:solidFill>
                <a:latin typeface="Raleway"/>
                <a:ea typeface="Raleway"/>
              </a:rPr>
              <a:t>Overview</a:t>
            </a:r>
            <a:endParaRPr b="0" lang="en-US" sz="3600" spc="-1" strike="noStrike">
              <a:solidFill>
                <a:srgbClr val="000000"/>
              </a:solidFill>
              <a:latin typeface="Arial"/>
            </a:endParaRPr>
          </a:p>
        </p:txBody>
      </p:sp>
      <p:sp>
        <p:nvSpPr>
          <p:cNvPr id="216" name="PlaceHolder 2"/>
          <p:cNvSpPr>
            <a:spLocks noGrp="1"/>
          </p:cNvSpPr>
          <p:nvPr>
            <p:ph/>
          </p:nvPr>
        </p:nvSpPr>
        <p:spPr>
          <a:xfrm>
            <a:off x="4939560" y="724320"/>
            <a:ext cx="3836520" cy="3694680"/>
          </a:xfrm>
          <a:prstGeom prst="rect">
            <a:avLst/>
          </a:prstGeom>
          <a:noFill/>
          <a:ln w="0">
            <a:noFill/>
          </a:ln>
        </p:spPr>
        <p:txBody>
          <a:bodyPr tIns="91440" bIns="91440" anchor="ctr">
            <a:noAutofit/>
          </a:bodyPr>
          <a:p>
            <a:pPr indent="0">
              <a:lnSpc>
                <a:spcPct val="115000"/>
              </a:lnSpc>
              <a:buNone/>
              <a:tabLst>
                <a:tab algn="l" pos="0"/>
              </a:tabLst>
            </a:pPr>
            <a:endParaRPr b="0" lang="en-US" sz="1500" spc="-1" strike="noStrike">
              <a:solidFill>
                <a:srgbClr val="000000"/>
              </a:solidFill>
              <a:latin typeface="Arial"/>
            </a:endParaRPr>
          </a:p>
          <a:p>
            <a:pPr indent="0">
              <a:lnSpc>
                <a:spcPct val="115000"/>
              </a:lnSpc>
              <a:spcBef>
                <a:spcPts val="1599"/>
              </a:spcBef>
              <a:buNone/>
              <a:tabLst>
                <a:tab algn="l" pos="0"/>
              </a:tabLst>
            </a:pPr>
            <a:r>
              <a:rPr b="1" lang="en" sz="1500" spc="-1" strike="noStrike">
                <a:solidFill>
                  <a:schemeClr val="lt1"/>
                </a:solidFill>
                <a:latin typeface="Lato"/>
                <a:ea typeface="Lato"/>
              </a:rPr>
              <a:t>Part 1: Presenting the Paper</a:t>
            </a:r>
            <a:endParaRPr b="0" lang="en-US" sz="1500" spc="-1" strike="noStrike">
              <a:solidFill>
                <a:srgbClr val="000000"/>
              </a:solidFill>
              <a:latin typeface="Arial"/>
            </a:endParaRPr>
          </a:p>
          <a:p>
            <a:pPr marL="457200" indent="-324000">
              <a:lnSpc>
                <a:spcPct val="115000"/>
              </a:lnSpc>
              <a:spcBef>
                <a:spcPts val="1599"/>
              </a:spcBef>
              <a:buClr>
                <a:srgbClr val="ffffff"/>
              </a:buClr>
              <a:buFont typeface="Lato"/>
              <a:buChar char="●"/>
              <a:tabLst>
                <a:tab algn="l" pos="0"/>
              </a:tabLst>
            </a:pPr>
            <a:r>
              <a:rPr b="0" lang="en" sz="1500" spc="-1" strike="noStrike">
                <a:solidFill>
                  <a:schemeClr val="lt1"/>
                </a:solidFill>
                <a:latin typeface="Lato"/>
                <a:ea typeface="Lato"/>
              </a:rPr>
              <a:t>What is the problem?</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What is the releated research?</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What is the innovation of the paper?</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RMT Architecture</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Method</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Experimental Results</a:t>
            </a:r>
            <a:endParaRPr b="0" lang="en-US" sz="1500" spc="-1" strike="noStrike">
              <a:solidFill>
                <a:srgbClr val="000000"/>
              </a:solidFill>
              <a:latin typeface="Arial"/>
            </a:endParaRPr>
          </a:p>
          <a:p>
            <a:pPr marL="457200" indent="-324000">
              <a:lnSpc>
                <a:spcPct val="115000"/>
              </a:lnSpc>
              <a:buClr>
                <a:srgbClr val="ffffff"/>
              </a:buClr>
              <a:buFont typeface="Lato"/>
              <a:buChar char="●"/>
              <a:tabLst>
                <a:tab algn="l" pos="0"/>
              </a:tabLst>
            </a:pPr>
            <a:r>
              <a:rPr b="0" lang="en" sz="1500" spc="-1" strike="noStrike">
                <a:solidFill>
                  <a:schemeClr val="lt1"/>
                </a:solidFill>
                <a:latin typeface="Lato"/>
                <a:ea typeface="Lato"/>
              </a:rPr>
              <a:t>Results</a:t>
            </a:r>
            <a:endParaRPr b="0" lang="en-US" sz="1500" spc="-1" strike="noStrike">
              <a:solidFill>
                <a:srgbClr val="000000"/>
              </a:solidFill>
              <a:latin typeface="Arial"/>
            </a:endParaRPr>
          </a:p>
          <a:p>
            <a:pPr indent="0">
              <a:lnSpc>
                <a:spcPct val="115000"/>
              </a:lnSpc>
              <a:spcBef>
                <a:spcPts val="1599"/>
              </a:spcBef>
              <a:buNone/>
              <a:tabLst>
                <a:tab algn="l" pos="0"/>
              </a:tabLst>
            </a:pPr>
            <a:r>
              <a:rPr b="1" lang="en" sz="1500" spc="-1" strike="noStrike">
                <a:solidFill>
                  <a:schemeClr val="lt1"/>
                </a:solidFill>
                <a:latin typeface="Lato"/>
                <a:ea typeface="Lato"/>
              </a:rPr>
              <a:t>Part 2: Relating to Course Material</a:t>
            </a:r>
            <a:endParaRPr b="0" lang="en-US" sz="1500" spc="-1" strike="noStrike">
              <a:solidFill>
                <a:srgbClr val="000000"/>
              </a:solidFill>
              <a:latin typeface="Arial"/>
            </a:endParaRPr>
          </a:p>
          <a:p>
            <a:pPr indent="0">
              <a:lnSpc>
                <a:spcPct val="115000"/>
              </a:lnSpc>
              <a:spcBef>
                <a:spcPts val="1599"/>
              </a:spcBef>
              <a:buNone/>
              <a:tabLst>
                <a:tab algn="l" pos="0"/>
              </a:tabLst>
            </a:pPr>
            <a:r>
              <a:rPr b="1" lang="en" sz="1500" spc="-1" strike="noStrike">
                <a:solidFill>
                  <a:schemeClr val="lt1"/>
                </a:solidFill>
                <a:latin typeface="Lato"/>
                <a:ea typeface="Lato"/>
              </a:rPr>
              <a:t>Part 3: Critique of the Paper</a:t>
            </a:r>
            <a:endParaRPr b="0" lang="en-US" sz="1500" spc="-1" strike="noStrike">
              <a:solidFill>
                <a:srgbClr val="000000"/>
              </a:solidFill>
              <a:latin typeface="Arial"/>
            </a:endParaRPr>
          </a:p>
          <a:p>
            <a:pPr indent="0">
              <a:lnSpc>
                <a:spcPct val="115000"/>
              </a:lnSpc>
              <a:spcBef>
                <a:spcPts val="1599"/>
              </a:spcBef>
              <a:spcAft>
                <a:spcPts val="1599"/>
              </a:spcAft>
              <a:buNone/>
              <a:tabLst>
                <a:tab algn="l" pos="0"/>
              </a:tabLst>
            </a:pP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06440" y="1806840"/>
            <a:ext cx="8296560" cy="1541520"/>
          </a:xfrm>
          <a:prstGeom prst="rect">
            <a:avLst/>
          </a:prstGeom>
          <a:noFill/>
          <a:ln w="0">
            <a:noFill/>
          </a:ln>
        </p:spPr>
        <p:txBody>
          <a:bodyPr tIns="91440" bIns="91440" anchor="ctr">
            <a:noAutofit/>
          </a:bodyPr>
          <a:p>
            <a:pPr indent="0" algn="ctr">
              <a:lnSpc>
                <a:spcPct val="100000"/>
              </a:lnSpc>
              <a:buNone/>
              <a:tabLst>
                <a:tab algn="l" pos="0"/>
              </a:tabLst>
            </a:pPr>
            <a:r>
              <a:rPr b="1" lang="en" sz="4800" spc="-1" strike="noStrike">
                <a:solidFill>
                  <a:schemeClr val="lt1"/>
                </a:solidFill>
                <a:latin typeface="Raleway"/>
                <a:ea typeface="Raleway"/>
              </a:rPr>
              <a:t>Part 1: Presenting the Paper</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What is the problem?</a:t>
            </a:r>
            <a:endParaRPr b="0" lang="en-US" sz="3000" spc="-1" strike="noStrike">
              <a:solidFill>
                <a:srgbClr val="000000"/>
              </a:solidFill>
              <a:latin typeface="Arial"/>
            </a:endParaRPr>
          </a:p>
        </p:txBody>
      </p:sp>
      <p:sp>
        <p:nvSpPr>
          <p:cNvPr id="219" name="PlaceHolder 2"/>
          <p:cNvSpPr>
            <a:spLocks noGrp="1"/>
          </p:cNvSpPr>
          <p:nvPr>
            <p:ph/>
          </p:nvPr>
        </p:nvSpPr>
        <p:spPr>
          <a:xfrm>
            <a:off x="5220360" y="1211400"/>
            <a:ext cx="3437640" cy="2108520"/>
          </a:xfrm>
          <a:prstGeom prst="rect">
            <a:avLst/>
          </a:prstGeom>
          <a:noFill/>
          <a:ln w="0">
            <a:noFill/>
          </a:ln>
        </p:spPr>
        <p:txBody>
          <a:bodyPr tIns="91440" bIns="91440" anchor="t">
            <a:noAutofit/>
          </a:bodyPr>
          <a:p>
            <a:pPr marL="457200" indent="-330120">
              <a:lnSpc>
                <a:spcPct val="150000"/>
              </a:lnSpc>
              <a:buClr>
                <a:srgbClr val="0d0d0d"/>
              </a:buClr>
              <a:buFont typeface="Lato"/>
              <a:buChar char="●"/>
            </a:pPr>
            <a:r>
              <a:rPr b="0" lang="en-US" sz="1400" spc="-1" strike="noStrike">
                <a:solidFill>
                  <a:srgbClr val="0d0d0d"/>
                </a:solidFill>
                <a:latin typeface="Lato"/>
                <a:ea typeface="Lato"/>
              </a:rPr>
              <a:t>The limitation of input context length in Transformer models due to the quadratic computational complexity of self-attention.</a:t>
            </a:r>
            <a:endParaRPr b="0" lang="en-US" sz="1400" spc="-1" strike="noStrike">
              <a:solidFill>
                <a:srgbClr val="000000"/>
              </a:solidFill>
              <a:latin typeface="Arial"/>
            </a:endParaRPr>
          </a:p>
          <a:p>
            <a:pPr marL="457200" indent="-330120">
              <a:lnSpc>
                <a:spcPct val="150000"/>
              </a:lnSpc>
              <a:buClr>
                <a:srgbClr val="0d0d0d"/>
              </a:buClr>
              <a:buFont typeface="Lato"/>
              <a:buChar char="●"/>
            </a:pPr>
            <a:r>
              <a:rPr b="0" lang="en-US" sz="1400" spc="-1" strike="noStrike">
                <a:solidFill>
                  <a:srgbClr val="0d0d0d"/>
                </a:solidFill>
                <a:latin typeface="Lato"/>
                <a:ea typeface="Lato"/>
              </a:rPr>
              <a:t>The researchers aim to extend the input context length while maintaining high retrieval accuracy, especially for tasks involving long sequences of up to two million tokens.</a:t>
            </a:r>
            <a:endParaRPr b="0" lang="en-US" sz="1400" spc="-1" strike="noStrike">
              <a:solidFill>
                <a:srgbClr val="000000"/>
              </a:solidFill>
              <a:latin typeface="Arial"/>
            </a:endParaRPr>
          </a:p>
        </p:txBody>
      </p:sp>
      <p:pic>
        <p:nvPicPr>
          <p:cNvPr id="220" name="Google Shape;91;p16" descr=""/>
          <p:cNvPicPr/>
          <p:nvPr/>
        </p:nvPicPr>
        <p:blipFill>
          <a:blip r:embed="rId1"/>
          <a:stretch/>
        </p:blipFill>
        <p:spPr>
          <a:xfrm>
            <a:off x="163080" y="1670400"/>
            <a:ext cx="4978800" cy="2099160"/>
          </a:xfrm>
          <a:prstGeom prst="rect">
            <a:avLst/>
          </a:prstGeom>
          <a:ln w="0">
            <a:noFill/>
          </a:ln>
        </p:spPr>
      </p:pic>
      <p:sp>
        <p:nvSpPr>
          <p:cNvPr id="221" name="Google Shape;92;p16"/>
          <p:cNvSpPr/>
          <p:nvPr/>
        </p:nvSpPr>
        <p:spPr>
          <a:xfrm>
            <a:off x="259200" y="3954960"/>
            <a:ext cx="2999520" cy="3956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400" spc="-1" strike="noStrike">
                <a:solidFill>
                  <a:srgbClr val="000000"/>
                </a:solidFill>
                <a:latin typeface="Arial"/>
                <a:ea typeface="Arial"/>
              </a:rPr>
              <a:t>https://arxiv.org/abs/2304.11062</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783080" y="576000"/>
            <a:ext cx="6938640" cy="635040"/>
          </a:xfrm>
          <a:prstGeom prst="rect">
            <a:avLst/>
          </a:prstGeom>
          <a:noFill/>
          <a:ln w="0">
            <a:noFill/>
          </a:ln>
        </p:spPr>
        <p:txBody>
          <a:bodyPr tIns="91440" bIns="91440" anchor="t">
            <a:noAutofit/>
          </a:bodyPr>
          <a:p>
            <a:pPr indent="0">
              <a:lnSpc>
                <a:spcPct val="100000"/>
              </a:lnSpc>
              <a:buNone/>
              <a:tabLst>
                <a:tab algn="l" pos="0"/>
              </a:tabLst>
            </a:pPr>
            <a:r>
              <a:rPr b="1" lang="en-US" sz="3000" spc="-1" strike="noStrike">
                <a:solidFill>
                  <a:schemeClr val="dk2"/>
                </a:solidFill>
                <a:latin typeface="Raleway"/>
                <a:ea typeface="Raleway"/>
              </a:rPr>
              <a:t>What is the related research?</a:t>
            </a:r>
            <a:endParaRPr b="0" lang="en-US" sz="3000" spc="-1" strike="noStrike">
              <a:solidFill>
                <a:srgbClr val="000000"/>
              </a:solidFill>
              <a:latin typeface="Arial"/>
            </a:endParaRPr>
          </a:p>
        </p:txBody>
      </p:sp>
      <p:sp>
        <p:nvSpPr>
          <p:cNvPr id="223" name="PlaceHolder 2"/>
          <p:cNvSpPr>
            <a:spLocks noGrp="1"/>
          </p:cNvSpPr>
          <p:nvPr>
            <p:ph/>
          </p:nvPr>
        </p:nvSpPr>
        <p:spPr>
          <a:xfrm>
            <a:off x="420480" y="1462320"/>
            <a:ext cx="8142480" cy="3002040"/>
          </a:xfrm>
          <a:prstGeom prst="rect">
            <a:avLst/>
          </a:prstGeom>
          <a:noFill/>
          <a:ln w="0">
            <a:noFill/>
          </a:ln>
        </p:spPr>
        <p:txBody>
          <a:bodyPr tIns="91440" bIns="91440" anchor="t">
            <a:noAutofit/>
          </a:bodyPr>
          <a:p>
            <a:pPr marL="457200" indent="-330120">
              <a:lnSpc>
                <a:spcPct val="150000"/>
              </a:lnSpc>
              <a:buClr>
                <a:srgbClr val="0d0d0d"/>
              </a:buClr>
              <a:buFont typeface="Lato"/>
              <a:buChar char="●"/>
            </a:pPr>
            <a:r>
              <a:rPr b="0" lang="en-US" sz="1600" spc="-1" strike="noStrike">
                <a:solidFill>
                  <a:srgbClr val="0d0d0d"/>
                </a:solidFill>
                <a:latin typeface="Lato"/>
                <a:ea typeface="Lato"/>
              </a:rPr>
              <a:t>Memory-augmented Neural Networks (MANN) with advanced addressing mechanisms.</a:t>
            </a:r>
            <a:endParaRPr b="0" lang="en-US" sz="1600" spc="-1" strike="noStrike">
              <a:solidFill>
                <a:srgbClr val="000000"/>
              </a:solidFill>
              <a:latin typeface="Arial"/>
            </a:endParaRPr>
          </a:p>
          <a:p>
            <a:pPr marL="457200" indent="-330120">
              <a:lnSpc>
                <a:spcPct val="150000"/>
              </a:lnSpc>
              <a:buClr>
                <a:srgbClr val="0d0d0d"/>
              </a:buClr>
              <a:buFont typeface="Lato"/>
              <a:buChar char="●"/>
            </a:pPr>
            <a:r>
              <a:rPr b="0" lang="en-US" sz="1600" spc="-1" strike="noStrike">
                <a:solidFill>
                  <a:srgbClr val="0d0d0d"/>
                </a:solidFill>
                <a:latin typeface="Lato"/>
                <a:ea typeface="Lato"/>
              </a:rPr>
              <a:t>Integration of memory with Transformers in a recurrent approach.</a:t>
            </a:r>
            <a:endParaRPr b="0" lang="en-US" sz="1600" spc="-1" strike="noStrike">
              <a:solidFill>
                <a:srgbClr val="000000"/>
              </a:solidFill>
              <a:latin typeface="Arial"/>
            </a:endParaRPr>
          </a:p>
          <a:p>
            <a:pPr marL="457200" indent="-330120">
              <a:lnSpc>
                <a:spcPct val="150000"/>
              </a:lnSpc>
              <a:buClr>
                <a:srgbClr val="0d0d0d"/>
              </a:buClr>
              <a:buFont typeface="Lato"/>
              <a:buChar char="●"/>
            </a:pPr>
            <a:r>
              <a:rPr b="0" lang="en-US" sz="1600" spc="-1" strike="noStrike">
                <a:solidFill>
                  <a:srgbClr val="0d0d0d"/>
                </a:solidFill>
                <a:latin typeface="Lato"/>
                <a:ea typeface="Lato"/>
              </a:rPr>
              <a:t>Redesigning self-attention mechanisms to reduce computational complexity while preserving long-range dependencies.</a:t>
            </a:r>
            <a:endParaRPr b="0" lang="en-US" sz="1600" spc="-1" strike="noStrike">
              <a:solidFill>
                <a:srgbClr val="000000"/>
              </a:solidFill>
              <a:latin typeface="Arial"/>
            </a:endParaRPr>
          </a:p>
          <a:p>
            <a:pPr marL="457200" indent="-330120">
              <a:lnSpc>
                <a:spcPct val="150000"/>
              </a:lnSpc>
              <a:buClr>
                <a:srgbClr val="0d0d0d"/>
              </a:buClr>
              <a:buFont typeface="Lato"/>
              <a:buChar char="●"/>
            </a:pPr>
            <a:r>
              <a:rPr b="0" lang="en-US" sz="1600" spc="-1" strike="noStrike">
                <a:solidFill>
                  <a:srgbClr val="0d0d0d"/>
                </a:solidFill>
                <a:latin typeface="Lato"/>
                <a:ea typeface="Lato"/>
              </a:rPr>
              <a:t>Recurrent Memory Transformer (RMT) as a memory-augmented segment-level Transformer.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783080" y="576000"/>
            <a:ext cx="69386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What is the innovation of the paper?</a:t>
            </a:r>
            <a:endParaRPr b="0" lang="en-US" sz="3000" spc="-1" strike="noStrike">
              <a:solidFill>
                <a:srgbClr val="000000"/>
              </a:solidFill>
              <a:latin typeface="Arial"/>
            </a:endParaRPr>
          </a:p>
        </p:txBody>
      </p:sp>
      <p:sp>
        <p:nvSpPr>
          <p:cNvPr id="225" name="PlaceHolder 2"/>
          <p:cNvSpPr>
            <a:spLocks noGrp="1"/>
          </p:cNvSpPr>
          <p:nvPr>
            <p:ph/>
          </p:nvPr>
        </p:nvSpPr>
        <p:spPr>
          <a:xfrm>
            <a:off x="420480" y="1462320"/>
            <a:ext cx="3071160" cy="3002040"/>
          </a:xfrm>
          <a:prstGeom prst="rect">
            <a:avLst/>
          </a:prstGeom>
          <a:noFill/>
          <a:ln w="0">
            <a:noFill/>
          </a:ln>
        </p:spPr>
        <p:txBody>
          <a:bodyPr tIns="91440" bIns="91440" anchor="t">
            <a:noAutofit/>
          </a:bodyPr>
          <a:p>
            <a:pPr marL="457200" indent="-330120">
              <a:lnSpc>
                <a:spcPct val="150000"/>
              </a:lnSpc>
              <a:buClr>
                <a:srgbClr val="0d0d0d"/>
              </a:buClr>
              <a:buFont typeface="Lato"/>
              <a:buChar char="●"/>
            </a:pPr>
            <a:r>
              <a:rPr b="0" lang="en" sz="1600" spc="-1" strike="noStrike">
                <a:solidFill>
                  <a:srgbClr val="0d0d0d"/>
                </a:solidFill>
                <a:latin typeface="Lato"/>
                <a:ea typeface="Lato"/>
              </a:rPr>
              <a:t>Recurrent Memory Transformer (RMT) </a:t>
            </a:r>
            <a:endParaRPr b="0" lang="en-US" sz="1600" spc="-1" strike="noStrike">
              <a:solidFill>
                <a:srgbClr val="000000"/>
              </a:solidFill>
              <a:latin typeface="Arial"/>
            </a:endParaRPr>
          </a:p>
          <a:p>
            <a:pPr marL="457200" indent="-330120">
              <a:lnSpc>
                <a:spcPct val="150000"/>
              </a:lnSpc>
              <a:buClr>
                <a:srgbClr val="0d0d0d"/>
              </a:buClr>
              <a:buFont typeface="Lato"/>
              <a:buChar char="●"/>
            </a:pPr>
            <a:r>
              <a:rPr b="0" lang="en" sz="1600" spc="-1" strike="noStrike">
                <a:solidFill>
                  <a:srgbClr val="0d0d0d"/>
                </a:solidFill>
                <a:latin typeface="Lato"/>
                <a:ea typeface="Lato"/>
              </a:rPr>
              <a:t>Like a bookmark that helps the model remember and connect ideas from the entire book while only looking at a few pages at a time </a:t>
            </a:r>
            <a:endParaRPr b="0" lang="en-US" sz="1600" spc="-1" strike="noStrike">
              <a:solidFill>
                <a:srgbClr val="000000"/>
              </a:solidFill>
              <a:latin typeface="Arial"/>
            </a:endParaRPr>
          </a:p>
        </p:txBody>
      </p:sp>
      <p:pic>
        <p:nvPicPr>
          <p:cNvPr id="226" name="Google Shape;99;p17" descr=""/>
          <p:cNvPicPr/>
          <p:nvPr/>
        </p:nvPicPr>
        <p:blipFill>
          <a:blip r:embed="rId1"/>
          <a:stretch/>
        </p:blipFill>
        <p:spPr>
          <a:xfrm>
            <a:off x="3644280" y="1363680"/>
            <a:ext cx="5346720" cy="32047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RMT Architecture</a:t>
            </a:r>
            <a:endParaRPr b="0" lang="en-US" sz="3000" spc="-1" strike="noStrike">
              <a:solidFill>
                <a:srgbClr val="000000"/>
              </a:solidFill>
              <a:latin typeface="Arial"/>
            </a:endParaRPr>
          </a:p>
        </p:txBody>
      </p:sp>
      <p:pic>
        <p:nvPicPr>
          <p:cNvPr id="228" name="Google Shape;105;p18" descr=""/>
          <p:cNvPicPr/>
          <p:nvPr/>
        </p:nvPicPr>
        <p:blipFill>
          <a:blip r:embed="rId1"/>
          <a:stretch/>
        </p:blipFill>
        <p:spPr>
          <a:xfrm>
            <a:off x="3977640" y="1132560"/>
            <a:ext cx="4320720" cy="3416400"/>
          </a:xfrm>
          <a:prstGeom prst="rect">
            <a:avLst/>
          </a:prstGeom>
          <a:ln w="0">
            <a:noFill/>
          </a:ln>
        </p:spPr>
      </p:pic>
      <p:sp>
        <p:nvSpPr>
          <p:cNvPr id="229" name="Google Shape;106;p18"/>
          <p:cNvSpPr/>
          <p:nvPr/>
        </p:nvSpPr>
        <p:spPr>
          <a:xfrm>
            <a:off x="194400" y="1617480"/>
            <a:ext cx="3857400" cy="2007720"/>
          </a:xfrm>
          <a:prstGeom prst="rect">
            <a:avLst/>
          </a:prstGeom>
          <a:noFill/>
          <a:ln w="0">
            <a:noFill/>
          </a:ln>
        </p:spPr>
        <p:style>
          <a:lnRef idx="0"/>
          <a:fillRef idx="0"/>
          <a:effectRef idx="0"/>
          <a:fontRef idx="minor"/>
        </p:style>
        <p:txBody>
          <a:bodyPr tIns="91440" bIns="91440" anchor="t">
            <a:spAutoFit/>
          </a:bodyPr>
          <a:p>
            <a:pPr marL="457200" indent="-330120">
              <a:lnSpc>
                <a:spcPct val="150000"/>
              </a:lnSpc>
              <a:buClr>
                <a:srgbClr val="0d0d0d"/>
              </a:buClr>
              <a:buFont typeface="Lato"/>
              <a:buChar char="●"/>
            </a:pPr>
            <a:r>
              <a:rPr b="0" lang="en" sz="1600" spc="-1" strike="noStrike">
                <a:solidFill>
                  <a:srgbClr val="0d0d0d"/>
                </a:solidFill>
                <a:latin typeface="Lato"/>
                <a:ea typeface="Lato"/>
              </a:rPr>
              <a:t>Top: Encoder with single memory store</a:t>
            </a:r>
            <a:endParaRPr b="0" lang="en-US" sz="1600" spc="-1" strike="noStrike">
              <a:solidFill>
                <a:srgbClr val="000000"/>
              </a:solidFill>
              <a:latin typeface="Arial"/>
            </a:endParaRPr>
          </a:p>
          <a:p>
            <a:pPr marL="457200" indent="-330120">
              <a:lnSpc>
                <a:spcPct val="150000"/>
              </a:lnSpc>
              <a:buClr>
                <a:srgbClr val="0d0d0d"/>
              </a:buClr>
              <a:buFont typeface="Lato"/>
              <a:buChar char="●"/>
            </a:pPr>
            <a:r>
              <a:rPr b="0" lang="en" sz="1600" spc="-1" strike="noStrike">
                <a:solidFill>
                  <a:srgbClr val="0d0d0d"/>
                </a:solidFill>
                <a:latin typeface="Lato"/>
                <a:ea typeface="Lato"/>
              </a:rPr>
              <a:t>Bottom: Decoder with causal attention mask, adds secondary memory store at the end</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Method</a:t>
            </a:r>
            <a:endParaRPr b="0" lang="en-US" sz="3000" spc="-1" strike="noStrike">
              <a:solidFill>
                <a:srgbClr val="000000"/>
              </a:solidFill>
              <a:latin typeface="Arial"/>
            </a:endParaRPr>
          </a:p>
        </p:txBody>
      </p:sp>
      <p:sp>
        <p:nvSpPr>
          <p:cNvPr id="231" name="PlaceHolder 2"/>
          <p:cNvSpPr>
            <a:spLocks noGrp="1"/>
          </p:cNvSpPr>
          <p:nvPr>
            <p:ph/>
          </p:nvPr>
        </p:nvSpPr>
        <p:spPr>
          <a:xfrm>
            <a:off x="596520" y="1602720"/>
            <a:ext cx="806220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method proposed in the paper involves augmenting pre-trained Transformer models with recurrent memory to extend the input context length while maintaining high retrieval accuracy. </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Memory Mechanism: A memory-augmented segment-level recurrent Transformer (Recurrent Memory Transformer or RMT) is implemented. Memory allows for storing and processing local and global information and passing information between segments of long sequences through recurrence.</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Memory Augmentation: The pre-trained Transformer models, such as BERT and GPT-2, are augmented with memory by adding special memory tokens to the input or output sequence. The Transformer is trained to control both memory operations and sequence representations processing.</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Method</a:t>
            </a:r>
            <a:endParaRPr b="0" lang="en-US" sz="3000" spc="-1" strike="noStrike">
              <a:solidFill>
                <a:srgbClr val="000000"/>
              </a:solidFill>
              <a:latin typeface="Arial"/>
            </a:endParaRPr>
          </a:p>
        </p:txBody>
      </p:sp>
      <p:sp>
        <p:nvSpPr>
          <p:cNvPr id="233" name="PlaceHolder 2"/>
          <p:cNvSpPr>
            <a:spLocks noGrp="1"/>
          </p:cNvSpPr>
          <p:nvPr>
            <p:ph/>
          </p:nvPr>
        </p:nvSpPr>
        <p:spPr>
          <a:xfrm>
            <a:off x="596520" y="1602720"/>
            <a:ext cx="806220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Training Stability: Curriculum learning is introduced to improve training stability. The model is initially fine-tuned on shorter versions of the task and gradually increases the task length by adding more segments until the desired input length is reached.</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Evaluation: The performance of the models trained on varying numbers of segments is evaluated to solve tasks of larger lengths. The models are tested on tasks involving memory-intensive synthetic tasks like memorization, detection, and reasoning.</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Experimental Results</a:t>
            </a:r>
            <a:endParaRPr b="0" lang="en-US" sz="3000" spc="-1" strike="noStrike">
              <a:solidFill>
                <a:srgbClr val="000000"/>
              </a:solidFill>
              <a:latin typeface="Arial"/>
            </a:endParaRPr>
          </a:p>
        </p:txBody>
      </p:sp>
      <p:pic>
        <p:nvPicPr>
          <p:cNvPr id="235" name="Google Shape;112;p19" descr=""/>
          <p:cNvPicPr/>
          <p:nvPr/>
        </p:nvPicPr>
        <p:blipFill>
          <a:blip r:embed="rId1"/>
          <a:stretch/>
        </p:blipFill>
        <p:spPr>
          <a:xfrm>
            <a:off x="677160" y="1211400"/>
            <a:ext cx="6939720" cy="2146680"/>
          </a:xfrm>
          <a:prstGeom prst="rect">
            <a:avLst/>
          </a:prstGeom>
          <a:ln w="0">
            <a:noFill/>
          </a:ln>
        </p:spPr>
      </p:pic>
      <p:sp>
        <p:nvSpPr>
          <p:cNvPr id="236" name="PlaceHolder 2"/>
          <p:cNvSpPr>
            <a:spLocks noGrp="1"/>
          </p:cNvSpPr>
          <p:nvPr>
            <p:ph/>
          </p:nvPr>
        </p:nvSpPr>
        <p:spPr>
          <a:xfrm>
            <a:off x="596520" y="3426840"/>
            <a:ext cx="8062200" cy="117756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Novel memory acquisition and retention tasks are proposed, scalable to sequences of up to two million tokens. The experiments demonstrate the ability of the Recurrent Memory Transformer (RMT) to successfully detect and store information about facts for long sequences, setting a record for the longest sequence task processed by any existing deep neural network.</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Experimental Results</a:t>
            </a:r>
            <a:endParaRPr b="0" lang="en-US" sz="3000" spc="-1" strike="noStrike">
              <a:solidFill>
                <a:srgbClr val="000000"/>
              </a:solidFill>
              <a:latin typeface="Arial"/>
            </a:endParaRPr>
          </a:p>
        </p:txBody>
      </p:sp>
      <p:pic>
        <p:nvPicPr>
          <p:cNvPr id="238" name="Google Shape;112;p19" descr=""/>
          <p:cNvPicPr/>
          <p:nvPr/>
        </p:nvPicPr>
        <p:blipFill>
          <a:blip r:embed="rId1"/>
          <a:stretch/>
        </p:blipFill>
        <p:spPr>
          <a:xfrm>
            <a:off x="677160" y="1211400"/>
            <a:ext cx="6939720" cy="2146680"/>
          </a:xfrm>
          <a:prstGeom prst="rect">
            <a:avLst/>
          </a:prstGeom>
          <a:ln w="0">
            <a:noFill/>
          </a:ln>
        </p:spPr>
      </p:pic>
      <p:sp>
        <p:nvSpPr>
          <p:cNvPr id="239" name="PlaceHolder 2"/>
          <p:cNvSpPr>
            <a:spLocks noGrp="1"/>
          </p:cNvSpPr>
          <p:nvPr>
            <p:ph/>
          </p:nvPr>
        </p:nvSpPr>
        <p:spPr>
          <a:xfrm>
            <a:off x="596520" y="3426840"/>
            <a:ext cx="8062200" cy="117756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computational complexity of RMT is compared with other Transformer models to showcase the significant advantage of RMT due to its linear scaling of inference operations and constant memory.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Experimental Results</a:t>
            </a:r>
            <a:endParaRPr b="0" lang="en-US" sz="3000" spc="-1" strike="noStrike">
              <a:solidFill>
                <a:srgbClr val="000000"/>
              </a:solidFill>
              <a:latin typeface="Arial"/>
            </a:endParaRPr>
          </a:p>
        </p:txBody>
      </p:sp>
      <p:pic>
        <p:nvPicPr>
          <p:cNvPr id="241" name="Google Shape;112;p19" descr=""/>
          <p:cNvPicPr/>
          <p:nvPr/>
        </p:nvPicPr>
        <p:blipFill>
          <a:blip r:embed="rId1"/>
          <a:stretch/>
        </p:blipFill>
        <p:spPr>
          <a:xfrm>
            <a:off x="677160" y="1211400"/>
            <a:ext cx="6939720" cy="2146680"/>
          </a:xfrm>
          <a:prstGeom prst="rect">
            <a:avLst/>
          </a:prstGeom>
          <a:ln w="0">
            <a:noFill/>
          </a:ln>
        </p:spPr>
      </p:pic>
      <p:sp>
        <p:nvSpPr>
          <p:cNvPr id="242" name="PlaceHolder 2"/>
          <p:cNvSpPr>
            <a:spLocks noGrp="1"/>
          </p:cNvSpPr>
          <p:nvPr>
            <p:ph/>
          </p:nvPr>
        </p:nvSpPr>
        <p:spPr>
          <a:xfrm>
            <a:off x="596520" y="3426840"/>
            <a:ext cx="8062200" cy="117756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experiments show that RMT can generalize memory operations to longer sequences with a growing number of training segments. The model can generalize nearly perfectly for tasks twice as long and holds up well on sequences up to 2,043,904 tokens.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Experimental Results</a:t>
            </a:r>
            <a:endParaRPr b="0" lang="en-US" sz="3000" spc="-1" strike="noStrike">
              <a:solidFill>
                <a:srgbClr val="000000"/>
              </a:solidFill>
              <a:latin typeface="Arial"/>
            </a:endParaRPr>
          </a:p>
        </p:txBody>
      </p:sp>
      <p:pic>
        <p:nvPicPr>
          <p:cNvPr id="244" name="Google Shape;112;p19" descr=""/>
          <p:cNvPicPr/>
          <p:nvPr/>
        </p:nvPicPr>
        <p:blipFill>
          <a:blip r:embed="rId1"/>
          <a:stretch/>
        </p:blipFill>
        <p:spPr>
          <a:xfrm>
            <a:off x="677160" y="1211400"/>
            <a:ext cx="6939720" cy="2146680"/>
          </a:xfrm>
          <a:prstGeom prst="rect">
            <a:avLst/>
          </a:prstGeom>
          <a:ln w="0">
            <a:noFill/>
          </a:ln>
        </p:spPr>
      </p:pic>
      <p:sp>
        <p:nvSpPr>
          <p:cNvPr id="245" name="PlaceHolder 2"/>
          <p:cNvSpPr>
            <a:spLocks noGrp="1"/>
          </p:cNvSpPr>
          <p:nvPr>
            <p:ph/>
          </p:nvPr>
        </p:nvSpPr>
        <p:spPr>
          <a:xfrm>
            <a:off x="596520" y="3426840"/>
            <a:ext cx="8062200" cy="117756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effectiveness of recurrent memory for long text understanding is studied by training the GPT-2 model with memory tokens using the recurrent memory approach on ArXiv documents. The dataset is preprocessed into non-overlapping segments of fixed length for training and evaluation.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Experimental Results</a:t>
            </a:r>
            <a:endParaRPr b="0" lang="en-US" sz="3000" spc="-1" strike="noStrike">
              <a:solidFill>
                <a:srgbClr val="000000"/>
              </a:solidFill>
              <a:latin typeface="Arial"/>
            </a:endParaRPr>
          </a:p>
        </p:txBody>
      </p:sp>
      <p:pic>
        <p:nvPicPr>
          <p:cNvPr id="247" name="Google Shape;112;p19" descr=""/>
          <p:cNvPicPr/>
          <p:nvPr/>
        </p:nvPicPr>
        <p:blipFill>
          <a:blip r:embed="rId1"/>
          <a:stretch/>
        </p:blipFill>
        <p:spPr>
          <a:xfrm>
            <a:off x="677160" y="1211400"/>
            <a:ext cx="6939720" cy="2146680"/>
          </a:xfrm>
          <a:prstGeom prst="rect">
            <a:avLst/>
          </a:prstGeom>
          <a:ln w="0">
            <a:noFill/>
          </a:ln>
        </p:spPr>
      </p:pic>
      <p:sp>
        <p:nvSpPr>
          <p:cNvPr id="248" name="PlaceHolder 2"/>
          <p:cNvSpPr>
            <a:spLocks noGrp="1"/>
          </p:cNvSpPr>
          <p:nvPr>
            <p:ph/>
          </p:nvPr>
        </p:nvSpPr>
        <p:spPr>
          <a:xfrm>
            <a:off x="596520" y="3426840"/>
            <a:ext cx="8062200" cy="117756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experiments evaluate the memorization of lemmas for a theorem proving task using the RMT model and compare it with a backbone model without memory. The results show that the RMT model exhibits better quality in this task.</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Results</a:t>
            </a:r>
            <a:endParaRPr b="0" lang="en-US" sz="3000" spc="-1" strike="noStrike">
              <a:solidFill>
                <a:srgbClr val="000000"/>
              </a:solidFill>
              <a:latin typeface="Arial"/>
            </a:endParaRPr>
          </a:p>
        </p:txBody>
      </p:sp>
      <p:sp>
        <p:nvSpPr>
          <p:cNvPr id="250" name="PlaceHolder 2"/>
          <p:cNvSpPr>
            <a:spLocks noGrp="1"/>
          </p:cNvSpPr>
          <p:nvPr>
            <p:ph/>
          </p:nvPr>
        </p:nvSpPr>
        <p:spPr>
          <a:xfrm>
            <a:off x="834120" y="3642480"/>
            <a:ext cx="791244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The experiments demonstrate that the Recurrent Memory Transformer (RMT) successfully detects and stores information about facts for sequences of up to two million tokens. This establishes a record for the longest sequence task processed by any existing deep neural network .</a:t>
            </a:r>
            <a:endParaRPr b="0" lang="en-US" sz="1400" spc="-1" strike="noStrike">
              <a:solidFill>
                <a:srgbClr val="000000"/>
              </a:solidFill>
              <a:latin typeface="Arial"/>
            </a:endParaRPr>
          </a:p>
        </p:txBody>
      </p:sp>
      <p:pic>
        <p:nvPicPr>
          <p:cNvPr id="251" name="Picture 5" descr="A graph of different sizes and colors&#10;&#10;Description automatically generated with medium confidence"/>
          <p:cNvPicPr/>
          <p:nvPr/>
        </p:nvPicPr>
        <p:blipFill>
          <a:blip r:embed="rId1"/>
          <a:stretch/>
        </p:blipFill>
        <p:spPr>
          <a:xfrm>
            <a:off x="1923840" y="1116000"/>
            <a:ext cx="5733000" cy="24706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Results</a:t>
            </a:r>
            <a:endParaRPr b="0" lang="en-US" sz="3000" spc="-1" strike="noStrike">
              <a:solidFill>
                <a:srgbClr val="000000"/>
              </a:solidFill>
              <a:latin typeface="Arial"/>
            </a:endParaRPr>
          </a:p>
        </p:txBody>
      </p:sp>
      <p:sp>
        <p:nvSpPr>
          <p:cNvPr id="253" name="PlaceHolder 2"/>
          <p:cNvSpPr>
            <a:spLocks noGrp="1"/>
          </p:cNvSpPr>
          <p:nvPr>
            <p:ph/>
          </p:nvPr>
        </p:nvSpPr>
        <p:spPr>
          <a:xfrm>
            <a:off x="309960" y="1602720"/>
            <a:ext cx="841140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350" spc="-1" strike="noStrike">
                <a:solidFill>
                  <a:schemeClr val="dk2"/>
                </a:solidFill>
                <a:latin typeface="Lato"/>
                <a:ea typeface="Lato"/>
              </a:rPr>
              <a:t>The RMT models exhibit remarkable adaptability in extrapolating to tasks of varying lengths. The models can handle sequences exceeding 1 million tokens efficiently, with computational requirements scaling linearly and maintaining computational efficiency even as task length drastically increases .</a:t>
            </a:r>
            <a:endParaRPr b="0" lang="en-US" sz="1350" spc="-1" strike="noStrike">
              <a:solidFill>
                <a:srgbClr val="000000"/>
              </a:solidFill>
              <a:latin typeface="Arial"/>
            </a:endParaRPr>
          </a:p>
          <a:p>
            <a:pPr marL="457200" indent="-317520">
              <a:lnSpc>
                <a:spcPct val="115000"/>
              </a:lnSpc>
              <a:buClr>
                <a:srgbClr val="000000"/>
              </a:buClr>
              <a:buFont typeface="Lato"/>
              <a:buChar char="●"/>
            </a:pPr>
            <a:r>
              <a:rPr b="0" lang="en-US" sz="1350" spc="-1" strike="noStrike">
                <a:solidFill>
                  <a:schemeClr val="dk2"/>
                </a:solidFill>
                <a:latin typeface="Lato"/>
                <a:ea typeface="Lato"/>
              </a:rPr>
              <a:t>The computational complexity comparison reveals that RMT has a significant advantage over other Transformer models due to its linear scaling of inference operations and constant memory requirements .</a:t>
            </a:r>
            <a:endParaRPr b="0" lang="en-US" sz="1350" spc="-1" strike="noStrike">
              <a:solidFill>
                <a:srgbClr val="000000"/>
              </a:solidFill>
              <a:latin typeface="Arial"/>
            </a:endParaRPr>
          </a:p>
          <a:p>
            <a:pPr marL="457200" indent="-317520">
              <a:lnSpc>
                <a:spcPct val="115000"/>
              </a:lnSpc>
              <a:buClr>
                <a:srgbClr val="000000"/>
              </a:buClr>
              <a:buFont typeface="Lato"/>
              <a:buChar char="●"/>
            </a:pPr>
            <a:r>
              <a:rPr b="0" lang="en-US" sz="1350" spc="-1" strike="noStrike">
                <a:solidFill>
                  <a:schemeClr val="dk2"/>
                </a:solidFill>
                <a:latin typeface="Lato"/>
                <a:ea typeface="Lato"/>
              </a:rPr>
              <a:t>In the task of memorizing lemmas for theorem proving, the RMT model shows better quality compared to a backbone model without memory. This indicates the effectiveness of the recurrent memory augmentation in enhancing memory-intensive tasks .</a:t>
            </a:r>
            <a:endParaRPr b="0" lang="en-US" sz="1350" spc="-1" strike="noStrike">
              <a:solidFill>
                <a:srgbClr val="000000"/>
              </a:solidFill>
              <a:latin typeface="Arial"/>
            </a:endParaRPr>
          </a:p>
          <a:p>
            <a:pPr marL="457200" indent="-317520">
              <a:lnSpc>
                <a:spcPct val="115000"/>
              </a:lnSpc>
              <a:buClr>
                <a:srgbClr val="000000"/>
              </a:buClr>
              <a:buFont typeface="Lato"/>
              <a:buChar char="●"/>
            </a:pPr>
            <a:r>
              <a:rPr b="0" lang="en-US" sz="1350" spc="-1" strike="noStrike">
                <a:solidFill>
                  <a:schemeClr val="dk2"/>
                </a:solidFill>
                <a:latin typeface="Lato"/>
                <a:ea typeface="Lato"/>
              </a:rPr>
              <a:t>The experiments on language modeling tasks show perplexity improvement as the number of processed input segments increases, underscoring the effectiveness of the method in handling long-term dependencies in text understanding .</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194400" y="1806840"/>
            <a:ext cx="8784720" cy="1541520"/>
          </a:xfrm>
          <a:prstGeom prst="rect">
            <a:avLst/>
          </a:prstGeom>
          <a:noFill/>
          <a:ln w="0">
            <a:noFill/>
          </a:ln>
        </p:spPr>
        <p:txBody>
          <a:bodyPr tIns="91440" bIns="91440" anchor="ctr">
            <a:noAutofit/>
          </a:bodyPr>
          <a:p>
            <a:pPr indent="0" algn="ctr">
              <a:lnSpc>
                <a:spcPct val="100000"/>
              </a:lnSpc>
              <a:buNone/>
              <a:tabLst>
                <a:tab algn="l" pos="0"/>
              </a:tabLst>
            </a:pPr>
            <a:r>
              <a:rPr b="1" lang="en" sz="4100" spc="-1" strike="noStrike">
                <a:solidFill>
                  <a:schemeClr val="lt1"/>
                </a:solidFill>
                <a:latin typeface="Raleway"/>
                <a:ea typeface="Raleway"/>
              </a:rPr>
              <a:t>Part 2: Relating to Course Material</a:t>
            </a:r>
            <a:endParaRPr b="0" lang="en-US" sz="4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 sz="3000" spc="-1" strike="noStrike">
                <a:solidFill>
                  <a:schemeClr val="dk2"/>
                </a:solidFill>
                <a:latin typeface="Raleway"/>
                <a:ea typeface="Raleway"/>
              </a:rPr>
              <a:t>Progress Topic area 1</a:t>
            </a:r>
            <a:endParaRPr b="0" lang="en-US" sz="3000" spc="-1" strike="noStrike">
              <a:solidFill>
                <a:srgbClr val="000000"/>
              </a:solidFill>
              <a:latin typeface="Arial"/>
            </a:endParaRPr>
          </a:p>
        </p:txBody>
      </p:sp>
      <p:sp>
        <p:nvSpPr>
          <p:cNvPr id="256" name="PlaceHolder 2"/>
          <p:cNvSpPr>
            <a:spLocks noGrp="1"/>
          </p:cNvSpPr>
          <p:nvPr>
            <p:ph/>
          </p:nvPr>
        </p:nvSpPr>
        <p:spPr>
          <a:xfrm>
            <a:off x="2400480" y="1602720"/>
            <a:ext cx="3071160" cy="3002040"/>
          </a:xfrm>
          <a:prstGeom prst="rect">
            <a:avLst/>
          </a:prstGeom>
          <a:noFill/>
          <a:ln w="0">
            <a:noFill/>
          </a:ln>
        </p:spPr>
        <p:txBody>
          <a:bodyPr tIns="91440" bIns="91440" anchor="t">
            <a:noAutofit/>
          </a:bodyPr>
          <a:p>
            <a:pPr indent="0">
              <a:lnSpc>
                <a:spcPct val="115000"/>
              </a:lnSpc>
              <a:buNone/>
              <a:tabLst>
                <a:tab algn="l" pos="0"/>
              </a:tabLst>
            </a:pPr>
            <a:r>
              <a:rPr b="1" lang="en" sz="2100" spc="-1" strike="noStrike">
                <a:solidFill>
                  <a:schemeClr val="dk1"/>
                </a:solidFill>
                <a:latin typeface="Lato"/>
                <a:ea typeface="Lato"/>
              </a:rPr>
              <a:t>Accomplishment 1</a:t>
            </a:r>
            <a:endParaRPr b="0" lang="en-US" sz="2100" spc="-1" strike="noStrike">
              <a:solidFill>
                <a:srgbClr val="000000"/>
              </a:solidFill>
              <a:latin typeface="Arial"/>
            </a:endParaRPr>
          </a:p>
          <a:p>
            <a:pPr marL="457200" indent="-330120">
              <a:lnSpc>
                <a:spcPct val="115000"/>
              </a:lnSpc>
              <a:spcBef>
                <a:spcPts val="1599"/>
              </a:spcBef>
              <a:buClr>
                <a:srgbClr val="000000"/>
              </a:buClr>
              <a:buFont typeface="Lato"/>
              <a:buChar char="●"/>
              <a:tabLst>
                <a:tab algn="l" pos="0"/>
              </a:tabLst>
            </a:pPr>
            <a:r>
              <a:rPr b="0" lang="en" sz="1600" spc="-1" strike="noStrike">
                <a:solidFill>
                  <a:schemeClr val="dk2"/>
                </a:solidFill>
                <a:latin typeface="Lato"/>
                <a:ea typeface="Lato"/>
              </a:rPr>
              <a:t>Lorem ipsum dolor sit amet, consectetur adipiscing elit</a:t>
            </a:r>
            <a:endParaRPr b="0" lang="en-US" sz="1600" spc="-1" strike="noStrike">
              <a:solidFill>
                <a:srgbClr val="000000"/>
              </a:solidFill>
              <a:latin typeface="Arial"/>
            </a:endParaRPr>
          </a:p>
          <a:p>
            <a:pPr marL="457200" indent="-330120">
              <a:lnSpc>
                <a:spcPct val="115000"/>
              </a:lnSpc>
              <a:spcBef>
                <a:spcPts val="1199"/>
              </a:spcBef>
              <a:spcAft>
                <a:spcPts val="1199"/>
              </a:spcAft>
              <a:buClr>
                <a:srgbClr val="000000"/>
              </a:buClr>
              <a:buFont typeface="Lato"/>
              <a:buChar char="●"/>
              <a:tabLst>
                <a:tab algn="l" pos="0"/>
              </a:tabLst>
            </a:pPr>
            <a:r>
              <a:rPr b="0" lang="en" sz="1600" spc="-1" strike="noStrike">
                <a:solidFill>
                  <a:schemeClr val="dk2"/>
                </a:solidFill>
                <a:latin typeface="Lato"/>
                <a:ea typeface="Lato"/>
              </a:rPr>
              <a:t>Sed do eiusmod tempor incididunt ut labore et dolore magna aliqua. </a:t>
            </a:r>
            <a:endParaRPr b="0" lang="en-US" sz="1600" spc="-1" strike="noStrike">
              <a:solidFill>
                <a:srgbClr val="000000"/>
              </a:solidFill>
              <a:latin typeface="Arial"/>
            </a:endParaRPr>
          </a:p>
        </p:txBody>
      </p:sp>
      <p:sp>
        <p:nvSpPr>
          <p:cNvPr id="257" name="PlaceHolder 3"/>
          <p:cNvSpPr>
            <a:spLocks noGrp="1"/>
          </p:cNvSpPr>
          <p:nvPr>
            <p:ph/>
          </p:nvPr>
        </p:nvSpPr>
        <p:spPr>
          <a:xfrm>
            <a:off x="5650560" y="1602720"/>
            <a:ext cx="3071160" cy="3002040"/>
          </a:xfrm>
          <a:prstGeom prst="rect">
            <a:avLst/>
          </a:prstGeom>
          <a:noFill/>
          <a:ln w="0">
            <a:noFill/>
          </a:ln>
        </p:spPr>
        <p:txBody>
          <a:bodyPr tIns="91440" bIns="91440" anchor="t">
            <a:noAutofit/>
          </a:bodyPr>
          <a:p>
            <a:pPr indent="0">
              <a:lnSpc>
                <a:spcPct val="115000"/>
              </a:lnSpc>
              <a:buNone/>
              <a:tabLst>
                <a:tab algn="l" pos="0"/>
              </a:tabLst>
            </a:pPr>
            <a:r>
              <a:rPr b="1" lang="en" sz="2100" spc="-1" strike="noStrike">
                <a:solidFill>
                  <a:schemeClr val="dk1"/>
                </a:solidFill>
                <a:latin typeface="Lato"/>
                <a:ea typeface="Lato"/>
              </a:rPr>
              <a:t>Accomplishment 2</a:t>
            </a:r>
            <a:endParaRPr b="0" lang="en-US" sz="2100" spc="-1" strike="noStrike">
              <a:solidFill>
                <a:srgbClr val="000000"/>
              </a:solidFill>
              <a:latin typeface="Arial"/>
            </a:endParaRPr>
          </a:p>
          <a:p>
            <a:pPr marL="457200" indent="-330120">
              <a:lnSpc>
                <a:spcPct val="115000"/>
              </a:lnSpc>
              <a:spcBef>
                <a:spcPts val="1599"/>
              </a:spcBef>
              <a:spcAft>
                <a:spcPts val="1199"/>
              </a:spcAft>
              <a:buClr>
                <a:srgbClr val="000000"/>
              </a:buClr>
              <a:buFont typeface="Lato"/>
              <a:buChar char="●"/>
              <a:tabLst>
                <a:tab algn="l" pos="0"/>
              </a:tabLst>
            </a:pPr>
            <a:r>
              <a:rPr b="0" lang="en" sz="1600" spc="-1" strike="noStrike">
                <a:solidFill>
                  <a:schemeClr val="dk2"/>
                </a:solidFill>
                <a:latin typeface="Lato"/>
                <a:ea typeface="Lato"/>
              </a:rPr>
              <a:t>Ut enim ad minim veniam, quis nostrud exercitation ullamco laboris nisi ut aliquip ex ea commodo consequat.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06440" y="1806840"/>
            <a:ext cx="8296560" cy="1541520"/>
          </a:xfrm>
          <a:prstGeom prst="rect">
            <a:avLst/>
          </a:prstGeom>
          <a:noFill/>
          <a:ln w="0">
            <a:noFill/>
          </a:ln>
        </p:spPr>
        <p:txBody>
          <a:bodyPr tIns="91440" bIns="91440" anchor="ctr">
            <a:noAutofit/>
          </a:bodyPr>
          <a:p>
            <a:pPr indent="0" algn="ctr">
              <a:lnSpc>
                <a:spcPct val="100000"/>
              </a:lnSpc>
              <a:buNone/>
              <a:tabLst>
                <a:tab algn="l" pos="0"/>
              </a:tabLst>
            </a:pPr>
            <a:r>
              <a:rPr b="1" lang="en" sz="4800" spc="-1" strike="noStrike">
                <a:solidFill>
                  <a:schemeClr val="lt1"/>
                </a:solidFill>
                <a:latin typeface="Raleway"/>
                <a:ea typeface="Raleway"/>
              </a:rPr>
              <a:t>Part 3: Critique of the Paper</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tabLst>
                <a:tab algn="l" pos="0"/>
              </a:tabLst>
            </a:pPr>
            <a:r>
              <a:rPr b="1" lang="en-US" sz="3000" spc="-1" strike="noStrike">
                <a:solidFill>
                  <a:schemeClr val="dk2"/>
                </a:solidFill>
                <a:latin typeface="Raleway"/>
                <a:ea typeface="Raleway"/>
              </a:rPr>
              <a:t>Strengths</a:t>
            </a:r>
            <a:endParaRPr b="0" lang="en-US" sz="3000" spc="-1" strike="noStrike">
              <a:solidFill>
                <a:srgbClr val="000000"/>
              </a:solidFill>
              <a:latin typeface="Arial"/>
            </a:endParaRPr>
          </a:p>
        </p:txBody>
      </p:sp>
      <p:sp>
        <p:nvSpPr>
          <p:cNvPr id="260" name="PlaceHolder 2"/>
          <p:cNvSpPr>
            <a:spLocks noGrp="1"/>
          </p:cNvSpPr>
          <p:nvPr>
            <p:ph/>
          </p:nvPr>
        </p:nvSpPr>
        <p:spPr>
          <a:xfrm>
            <a:off x="437400" y="1602720"/>
            <a:ext cx="8284320" cy="3002040"/>
          </a:xfrm>
          <a:prstGeom prst="rect">
            <a:avLst/>
          </a:prstGeom>
          <a:noFill/>
          <a:ln w="0">
            <a:noFill/>
          </a:ln>
        </p:spPr>
        <p:txBody>
          <a:bodyPr tIns="91440" bIns="91440" anchor="t">
            <a:noAutofit/>
          </a:bodyPr>
          <a:p>
            <a:pPr marL="457200" indent="-330120">
              <a:lnSpc>
                <a:spcPct val="115000"/>
              </a:lnSpc>
              <a:spcBef>
                <a:spcPts val="1199"/>
              </a:spcBef>
              <a:spcAft>
                <a:spcPts val="1199"/>
              </a:spcAft>
              <a:buClr>
                <a:srgbClr val="000000"/>
              </a:buClr>
              <a:buFont typeface="Lato"/>
              <a:buChar char="●"/>
            </a:pPr>
            <a:r>
              <a:rPr b="0" lang="en-US" sz="1400" spc="-1" strike="noStrike">
                <a:solidFill>
                  <a:schemeClr val="dk2"/>
                </a:solidFill>
                <a:latin typeface="Lato"/>
                <a:ea typeface="Lato"/>
              </a:rPr>
              <a:t>Innovative Approach: The introduction of recurrent memory augmentation to enhance Transformer models is innovative and addresses the challenge of processing long sequences effectively.</a:t>
            </a:r>
            <a:endParaRPr b="0" lang="en-US" sz="1400" spc="-1" strike="noStrike">
              <a:solidFill>
                <a:srgbClr val="000000"/>
              </a:solidFill>
              <a:latin typeface="Arial"/>
            </a:endParaRPr>
          </a:p>
          <a:p>
            <a:pPr marL="457200" indent="-330120">
              <a:lnSpc>
                <a:spcPct val="115000"/>
              </a:lnSpc>
              <a:spcBef>
                <a:spcPts val="1199"/>
              </a:spcBef>
              <a:spcAft>
                <a:spcPts val="1199"/>
              </a:spcAft>
              <a:buClr>
                <a:srgbClr val="000000"/>
              </a:buClr>
              <a:buFont typeface="Lato"/>
              <a:buChar char="●"/>
            </a:pPr>
            <a:r>
              <a:rPr b="0" lang="en-US" sz="1400" spc="-1" strike="noStrike">
                <a:solidFill>
                  <a:schemeClr val="dk2"/>
                </a:solidFill>
                <a:latin typeface="Lato"/>
                <a:ea typeface="Lato"/>
              </a:rPr>
              <a:t>Experimental Rigor: The paper provides detailed experimental results and comparisons with other Transformer models, showcasing the effectiveness of the recurrent memory augmentation method.</a:t>
            </a:r>
            <a:endParaRPr b="0" lang="en-US" sz="1400" spc="-1" strike="noStrike">
              <a:solidFill>
                <a:srgbClr val="000000"/>
              </a:solidFill>
              <a:latin typeface="Arial"/>
            </a:endParaRPr>
          </a:p>
          <a:p>
            <a:pPr marL="457200" indent="-330120">
              <a:lnSpc>
                <a:spcPct val="115000"/>
              </a:lnSpc>
              <a:spcBef>
                <a:spcPts val="1199"/>
              </a:spcBef>
              <a:spcAft>
                <a:spcPts val="1199"/>
              </a:spcAft>
              <a:buClr>
                <a:srgbClr val="000000"/>
              </a:buClr>
              <a:buFont typeface="Lato"/>
              <a:buChar char="●"/>
            </a:pPr>
            <a:r>
              <a:rPr b="0" lang="en-US" sz="1400" spc="-1" strike="noStrike">
                <a:solidFill>
                  <a:schemeClr val="dk2"/>
                </a:solidFill>
                <a:latin typeface="Lato"/>
                <a:ea typeface="Lato"/>
              </a:rPr>
              <a:t>Scalability: The ability of the Recurrent Memory Transformer (RMT) to handle sequences exceeding 1 million tokens efficiently demonstrates its scalability and adaptability.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Limitations</a:t>
            </a:r>
            <a:endParaRPr b="0" lang="en-US" sz="3000" spc="-1" strike="noStrike">
              <a:solidFill>
                <a:srgbClr val="000000"/>
              </a:solidFill>
              <a:latin typeface="Arial"/>
            </a:endParaRPr>
          </a:p>
        </p:txBody>
      </p:sp>
      <p:sp>
        <p:nvSpPr>
          <p:cNvPr id="262" name="PlaceHolder 2"/>
          <p:cNvSpPr>
            <a:spLocks noGrp="1"/>
          </p:cNvSpPr>
          <p:nvPr>
            <p:ph/>
          </p:nvPr>
        </p:nvSpPr>
        <p:spPr>
          <a:xfrm>
            <a:off x="222480" y="1602720"/>
            <a:ext cx="843588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Task Specificity: The experiments focus on specialized tasks designed to test the capabilities of the RMT. Generalizing the findings to a broader range of natural language processing tasks may require further validation.</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Lack of Benchmarking: The absence of established benchmarks for NLP tasks with extremely long sequences limits the direct comparison of the proposed method with existing approaches on standard tasks.</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Resource Intensive: Training models with recurrent memory augmentation may require significant computational resources, which could be a limitation for practical deployment in resource-constrained environments.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2400120" y="576000"/>
            <a:ext cx="6321240" cy="635040"/>
          </a:xfrm>
          <a:prstGeom prst="rect">
            <a:avLst/>
          </a:prstGeom>
          <a:noFill/>
          <a:ln w="0">
            <a:noFill/>
          </a:ln>
        </p:spPr>
        <p:txBody>
          <a:bodyPr tIns="91440" bIns="91440" anchor="t">
            <a:noAutofit/>
          </a:bodyPr>
          <a:p>
            <a:pPr indent="0">
              <a:lnSpc>
                <a:spcPct val="100000"/>
              </a:lnSpc>
              <a:buNone/>
            </a:pPr>
            <a:r>
              <a:rPr b="1" lang="en-US" sz="3000" spc="-1" strike="noStrike">
                <a:solidFill>
                  <a:schemeClr val="dk2"/>
                </a:solidFill>
                <a:latin typeface="Raleway"/>
                <a:ea typeface="Raleway"/>
              </a:rPr>
              <a:t>Further Validation</a:t>
            </a:r>
            <a:endParaRPr b="0" lang="en-US" sz="3000" spc="-1" strike="noStrike">
              <a:solidFill>
                <a:srgbClr val="000000"/>
              </a:solidFill>
              <a:latin typeface="Arial"/>
            </a:endParaRPr>
          </a:p>
        </p:txBody>
      </p:sp>
      <p:sp>
        <p:nvSpPr>
          <p:cNvPr id="264" name="PlaceHolder 2"/>
          <p:cNvSpPr>
            <a:spLocks noGrp="1"/>
          </p:cNvSpPr>
          <p:nvPr>
            <p:ph/>
          </p:nvPr>
        </p:nvSpPr>
        <p:spPr>
          <a:xfrm>
            <a:off x="238680" y="1602720"/>
            <a:ext cx="8483040" cy="3002040"/>
          </a:xfrm>
          <a:prstGeom prst="rect">
            <a:avLst/>
          </a:prstGeom>
          <a:noFill/>
          <a:ln w="0">
            <a:noFill/>
          </a:ln>
        </p:spPr>
        <p:txBody>
          <a:bodyPr tIns="91440" bIns="91440" anchor="t">
            <a:noAutofit/>
          </a:bodyPr>
          <a:p>
            <a:pPr marL="457200" indent="-317520">
              <a:lnSpc>
                <a:spcPct val="115000"/>
              </a:lnSpc>
              <a:buClr>
                <a:srgbClr val="000000"/>
              </a:buClr>
              <a:buFont typeface="Lato"/>
              <a:buChar char="●"/>
            </a:pPr>
            <a:r>
              <a:rPr b="0" lang="en-US" sz="1400" spc="-1" strike="noStrike">
                <a:solidFill>
                  <a:schemeClr val="dk2"/>
                </a:solidFill>
                <a:latin typeface="Lato"/>
                <a:ea typeface="Lato"/>
              </a:rPr>
              <a:t>Benchmark Development: Developing benchmarks for NLP tasks with long sequences could help evaluate the performance of recurrent memory augmentation methods in a standardized manner.</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Efficiency Improvements: Exploring techniques to improve the computational efficiency of training RMT models, such as optimizing memory utilization and reducing resource requirements, could enhance the practical applicability of the approach.</a:t>
            </a:r>
            <a:endParaRPr b="0" lang="en-US" sz="1400" spc="-1" strike="noStrike">
              <a:solidFill>
                <a:srgbClr val="000000"/>
              </a:solidFill>
              <a:latin typeface="Arial"/>
            </a:endParaRPr>
          </a:p>
          <a:p>
            <a:pPr marL="457200" indent="-317520">
              <a:lnSpc>
                <a:spcPct val="115000"/>
              </a:lnSpc>
              <a:buClr>
                <a:srgbClr val="000000"/>
              </a:buClr>
              <a:buFont typeface="Lato"/>
              <a:buChar char="●"/>
            </a:pPr>
            <a:r>
              <a:rPr b="0" lang="en-US" sz="1400" spc="-1" strike="noStrike">
                <a:solidFill>
                  <a:schemeClr val="dk2"/>
                </a:solidFill>
                <a:latin typeface="Lato"/>
                <a:ea typeface="Lato"/>
              </a:rPr>
              <a:t>Real-World Applications: Investigating the application of recurrent memory augmentation in real-world NLP tasks across different domains and datasets would provide insights into the generalizability and robustness of the method.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406440" y="1806840"/>
            <a:ext cx="8296560" cy="1541520"/>
          </a:xfrm>
          <a:prstGeom prst="rect">
            <a:avLst/>
          </a:prstGeom>
          <a:noFill/>
          <a:ln w="0">
            <a:noFill/>
          </a:ln>
        </p:spPr>
        <p:txBody>
          <a:bodyPr tIns="91440" bIns="91440" anchor="ctr">
            <a:noAutofit/>
          </a:bodyPr>
          <a:p>
            <a:pPr indent="0" algn="ctr">
              <a:lnSpc>
                <a:spcPct val="100000"/>
              </a:lnSpc>
              <a:buNone/>
              <a:tabLst>
                <a:tab algn="l" pos="0"/>
              </a:tabLst>
            </a:pPr>
            <a:r>
              <a:rPr b="1" lang="en" sz="4800" spc="-1" strike="noStrike">
                <a:solidFill>
                  <a:schemeClr val="lt1"/>
                </a:solidFill>
                <a:latin typeface="Raleway"/>
                <a:ea typeface="Raleway"/>
              </a:rPr>
              <a:t>Thank You</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939</TotalTime>
  <Application>LibreOffice/7.4.7.2$Linux_X86_64 LibreOffice_project/40$Build-2</Application>
  <AppVersion>15.0000</AppVersion>
  <Words>1271</Words>
  <Paragraphs>85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Jin, Hui (UMKC-Student)</cp:lastModifiedBy>
  <dcterms:modified xsi:type="dcterms:W3CDTF">2024-04-18T20:02:32Z</dcterms:modified>
  <cp:revision>5</cp:revision>
  <dc:subject/>
  <dc:title>See a video first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On-screen Show (16:9)</vt:lpwstr>
  </property>
  <property fmtid="{D5CDD505-2E9C-101B-9397-08002B2CF9AE}" pid="4" name="Slides">
    <vt:i4>24</vt:i4>
  </property>
</Properties>
</file>